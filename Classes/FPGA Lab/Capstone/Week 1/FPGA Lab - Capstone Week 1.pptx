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26T23:37:37.604"/>
    <p1510:client id="{93D0BE59-B025-4101-97AE-021DD1E5CCD5}" v="130" dt="2026-10-26T23:48:00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en, Dylan" userId="S::diden@ttu.edu::8d06ca70-f346-4f35-9810-ce906dd9a140" providerId="AD" clId="Web-{00000000-0000-0000-0000-000000000000}"/>
    <pc:docChg chg="modSld">
      <pc:chgData name="Iden, Dylan" userId="S::diden@ttu.edu::8d06ca70-f346-4f35-9810-ce906dd9a140" providerId="AD" clId="Web-{00000000-0000-0000-0000-000000000000}" dt="2026-10-26T23:37:37.604" v="3" actId="20577"/>
      <pc:docMkLst>
        <pc:docMk/>
      </pc:docMkLst>
      <pc:sldChg chg="modSp">
        <pc:chgData name="Iden, Dylan" userId="S::diden@ttu.edu::8d06ca70-f346-4f35-9810-ce906dd9a140" providerId="AD" clId="Web-{00000000-0000-0000-0000-000000000000}" dt="2026-10-26T23:37:37.604" v="3" actId="20577"/>
        <pc:sldMkLst>
          <pc:docMk/>
          <pc:sldMk cId="1070769287" sldId="271"/>
        </pc:sldMkLst>
        <pc:spChg chg="mod">
          <ac:chgData name="Iden, Dylan" userId="S::diden@ttu.edu::8d06ca70-f346-4f35-9810-ce906dd9a140" providerId="AD" clId="Web-{00000000-0000-0000-0000-000000000000}" dt="2026-10-26T23:37:37.604" v="3" actId="20577"/>
          <ac:spMkLst>
            <pc:docMk/>
            <pc:sldMk cId="1070769287" sldId="271"/>
            <ac:spMk id="3" creationId="{F30F79A2-2C66-ABC4-31F6-1A435D371442}"/>
          </ac:spMkLst>
        </pc:spChg>
      </pc:sldChg>
    </pc:docChg>
  </pc:docChgLst>
  <pc:docChgLst>
    <pc:chgData name="Malik, Amna" userId="b13e8dea-0b84-419f-9ae1-01c0d6dfc19e" providerId="ADAL" clId="{E358786B-1D8D-4DB4-B931-8BB831D5DF18}"/>
    <pc:docChg chg="modSld">
      <pc:chgData name="Malik, Amna" userId="b13e8dea-0b84-419f-9ae1-01c0d6dfc19e" providerId="ADAL" clId="{E358786B-1D8D-4DB4-B931-8BB831D5DF18}" dt="2026-10-26T23:44:29.144" v="0"/>
      <pc:docMkLst>
        <pc:docMk/>
      </pc:docMkLst>
      <pc:sldChg chg="modSp">
        <pc:chgData name="Malik, Amna" userId="b13e8dea-0b84-419f-9ae1-01c0d6dfc19e" providerId="ADAL" clId="{E358786B-1D8D-4DB4-B931-8BB831D5DF18}" dt="2026-10-26T23:44:29.144" v="0"/>
        <pc:sldMkLst>
          <pc:docMk/>
          <pc:sldMk cId="1070769287" sldId="271"/>
        </pc:sldMkLst>
        <pc:spChg chg="mod">
          <ac:chgData name="Malik, Amna" userId="b13e8dea-0b84-419f-9ae1-01c0d6dfc19e" providerId="ADAL" clId="{E358786B-1D8D-4DB4-B931-8BB831D5DF18}" dt="2026-10-26T23:44:29.144" v="0"/>
          <ac:spMkLst>
            <pc:docMk/>
            <pc:sldMk cId="1070769287" sldId="271"/>
            <ac:spMk id="3" creationId="{F30F79A2-2C66-ABC4-31F6-1A435D3714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0C810-8412-4A4A-A437-B77B68BE9D4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0861C-B212-4DD4-8641-53E324BF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8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82FD-3B9C-F6D4-A2DF-D83890C34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15820-EC59-3F13-86AC-9624E3F4F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881A-2707-2E76-9682-32A7C580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831A-9F1D-4A3B-9B10-D6F47802C3DD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9A0D0-FA6E-DDE1-8452-E88089FA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55DC7-3E6F-6768-94BF-DFCAEEF3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6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8AA7-34E8-9DDD-1E93-BD7CB8181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8F17A-894E-4D43-7F88-87EB7BCC5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A7593-463D-500E-5F7D-61D4F9BD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47E20-03DF-4857-B2F2-3B744A46FD6C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0F89-2B83-EC23-53CF-332711DB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4361C-7333-9413-2286-20713AF2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2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323F-F6A5-C145-F0C7-D71777E0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758C3-9689-6099-1509-7EA47578C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9EE54-160D-5560-ECAD-A2F31E81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EE18-ADAD-4C55-A7C7-ADF2C36CCF22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E66C7-5338-5102-0DDF-19790C15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08F67-18D3-EEA1-0E0F-3580C7DB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3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525B-65C2-3752-4F25-A5E8B18DD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0D68-7C5F-841C-FC11-D21F523CA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932F2-6A27-7610-CA64-9660DAC1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609A2-B7D7-2C8A-725B-7C99255A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2FE7-D732-426D-B948-FF5200B32387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DD22C-B68D-C16F-A29A-213BF6E61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A91F5-0DFA-3D1F-2DB2-FFBA3ED2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5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6CF6-20DB-EFA1-91BA-CADFDCB5F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9CB06-3E1A-E621-CAB0-1FFA6D8D0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46E15-AD5F-DBC7-2CCA-F27C312A0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AAF82-0B62-5AAA-E223-B4358ED06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FFDDE5-E761-C001-559B-CEF4941C0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A0E9C-7AAC-68E3-8197-F62BF12E7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55BBB-D318-4F71-AB14-502B0D0AADEC}" type="datetime1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DC9EC-1E13-22A8-F0A6-C6D3C51BD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C01F7-7461-BDC9-E870-AD2B2C06E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2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0380-2CFB-3EE1-5ACF-71619B0B0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9A5F6-0B36-FA11-84E9-86EE357F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CB3C-40B8-4D94-9D06-CD4C1095E305}" type="datetime1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67D46-783D-D65C-70FE-1818621B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B0648-C8A0-4BC2-30E3-44764A6F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7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2D16-F226-DD40-0C94-FACE3D2D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95EC-0D10-4B26-A64D-DA4BC79333A8}" type="datetime1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30F30-9D63-C9A8-29D5-069A9EAF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CA98B-E311-BA53-3FC6-A114BAC1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1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D7289-1153-48C3-E337-4B7F124AD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4A058-BDDD-D392-C87F-9F6DF84C0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365CB-6679-58DD-D4F3-DF966C7A3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C47C0-F0F1-AE75-EE77-65D24A23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2180-64BD-4DD8-8A33-8BDDCABFD9F5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53F6C-19AD-67CC-A571-B8A92925E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2FE08-8E65-4153-B198-A9240097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6872-1E31-BE20-208B-55C91612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0298C-9F82-E8F0-DA77-8C06C374D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D9875-884B-C230-370D-FC82D955F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3EB32-4620-01ED-187F-53952CAD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1248-FC00-47C6-84FD-A32CC8948294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1C4CE-BFC9-B21B-FB92-4ADA16D7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57996-BE86-8DF1-F172-DC647E6E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5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1090-115A-879D-7056-714FCCD0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AF1ED-57B7-5D84-1824-B1712C44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68F08-556A-5987-D5ED-0F017A0B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77F4-0EA2-4156-B0E9-81C63220F254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AEB20-373A-7473-34F9-F9D81364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1FA82-182F-59C2-3942-8AC7A23D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1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F584E9-7080-3237-75D1-2415F2191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0F890-6C49-54BE-D347-3FEE78305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D12A8-5FD9-B8A5-BC5F-99EA3167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98AB-3552-4424-8240-9F3B830870FE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8B6CC-4B6F-5815-683E-518E4092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1080C-D0B6-F73F-D847-02B47F11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3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B74DFB-6645-1D75-2096-149E56FB2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F11E7-11C2-D306-968A-384E43438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7954B-99FF-AC69-1282-D5539AEF2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E20BD-F346-4815-A96F-8032D0BAC939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88A11-DD74-C875-796E-400A07DA8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F681-1E1E-1547-D098-D84B50DC6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81271-DB25-4FE6-9668-D147A73C6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8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38FDA-8C68-8147-BE09-0C70EE3BB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dirty="0"/>
              <a:t>Capstone Proposal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501C8-C6D1-710E-65EE-5F0B0C872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/>
              <a:t>Amna Malik and Dylan Iden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8A505-1C9C-49FD-6EFB-4396A603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75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28F78-3AD4-2512-9596-4938AE7B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Project Overview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1AC4C-E422-B6F3-332A-58955D8B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>
            <a:normAutofit/>
          </a:bodyPr>
          <a:lstStyle/>
          <a:p>
            <a:pPr lvl="0"/>
            <a:r>
              <a:rPr lang="en-US" sz="2200"/>
              <a:t>Single-ball Breakout arcade game</a:t>
            </a:r>
          </a:p>
          <a:p>
            <a:pPr lvl="0"/>
            <a:r>
              <a:rPr lang="en-US" sz="2200"/>
              <a:t>Custom 3D-printed controller</a:t>
            </a:r>
          </a:p>
          <a:p>
            <a:pPr lvl="0"/>
            <a:r>
              <a:rPr lang="en-US" sz="2200"/>
              <a:t>VGA display (640 × 480)</a:t>
            </a:r>
          </a:p>
          <a:p>
            <a:pPr lvl="0"/>
            <a:r>
              <a:rPr lang="en-US" sz="2200"/>
              <a:t>Fully implemented in Verilog</a:t>
            </a:r>
          </a:p>
          <a:p>
            <a:pPr lvl="0"/>
            <a:r>
              <a:rPr lang="en-US" sz="2200" b="1"/>
              <a:t>Stretch Goal: Pong game mode</a:t>
            </a:r>
          </a:p>
          <a:p>
            <a:endParaRPr lang="en-US" sz="2200"/>
          </a:p>
        </p:txBody>
      </p:sp>
      <p:pic>
        <p:nvPicPr>
          <p:cNvPr id="8" name="Graphic 7" descr="Game controller">
            <a:extLst>
              <a:ext uri="{FF2B5EF4-FFF2-40B4-BE49-F238E27FC236}">
                <a16:creationId xmlns:a16="http://schemas.microsoft.com/office/drawing/2014/main" id="{9B0676C4-391F-F349-A2C3-BED81A49B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ABCA0-067F-CB5A-6F83-C3FE59B0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Malik </a:t>
            </a:r>
            <a:fld id="{BE681271-DB25-4FE6-9668-D147A73C673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00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03863-2FB9-0EF7-A081-1B7A0016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System Architecture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79A2-2C66-ABC4-31F6-1A435D371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1700" dirty="0"/>
              <a:t>Potentiometer controls paddle movement</a:t>
            </a:r>
          </a:p>
          <a:p>
            <a:r>
              <a:rPr lang="en-US" sz="1800" dirty="0"/>
              <a:t>XADC converts analog voltage to digital data</a:t>
            </a:r>
          </a:p>
          <a:p>
            <a:r>
              <a:rPr lang="en-US" sz="1700" dirty="0"/>
              <a:t>FPGA processes game logic and collisions</a:t>
            </a:r>
          </a:p>
          <a:p>
            <a:pPr lvl="0"/>
            <a:r>
              <a:rPr lang="en-US" sz="1700" dirty="0"/>
              <a:t>VGA displays real-time gameplay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49689-BE7D-F438-69FB-53143E90A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19031"/>
            <a:ext cx="10917936" cy="39031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3D55A-E15C-C7DC-0771-49D4C6F9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Malik </a:t>
            </a:r>
            <a:fld id="{BE681271-DB25-4FE6-9668-D147A73C673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69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CBE20-EA87-028C-8434-703E4D2F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Custom Controller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10D8D-1965-0EF1-0907-2B9D9AA6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>
            <a:normAutofit/>
          </a:bodyPr>
          <a:lstStyle/>
          <a:p>
            <a:pPr lvl="0"/>
            <a:r>
              <a:rPr lang="en-US" sz="2200"/>
              <a:t>Rotary potentiometer for paddle movement</a:t>
            </a:r>
          </a:p>
          <a:p>
            <a:pPr lvl="0"/>
            <a:r>
              <a:rPr lang="en-US" sz="2200"/>
              <a:t>Select button for starting gameplay</a:t>
            </a:r>
          </a:p>
          <a:p>
            <a:pPr lvl="0"/>
            <a:r>
              <a:rPr lang="en-US" sz="2200"/>
              <a:t>Reset button for restarting the game</a:t>
            </a:r>
          </a:p>
          <a:p>
            <a:pPr lvl="0"/>
            <a:r>
              <a:rPr lang="en-US" sz="2200"/>
              <a:t>3D-printed enclosure</a:t>
            </a:r>
          </a:p>
          <a:p>
            <a:pPr lvl="0"/>
            <a:r>
              <a:rPr lang="en-US" sz="2200"/>
              <a:t>Connected through FPGA I/O and XADC</a:t>
            </a:r>
          </a:p>
          <a:p>
            <a:pPr marL="0" lvl="0" indent="0">
              <a:buNone/>
            </a:pPr>
            <a:endParaRPr lang="en-US" sz="2200"/>
          </a:p>
          <a:p>
            <a:pPr marL="0" lvl="0" indent="0">
              <a:buNone/>
            </a:pPr>
            <a:endParaRPr lang="en-US" sz="2200"/>
          </a:p>
          <a:p>
            <a:endParaRPr lang="en-US"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4A293-A9A9-8E6B-3980-F7A4EBFA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B3CED-20B4-0D34-48BA-5BBBC92F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Malik </a:t>
            </a:r>
            <a:fld id="{BE681271-DB25-4FE6-9668-D147A73C673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3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CCB5F4-2FDB-F2E0-F114-2BFE9705F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485" y="77406"/>
            <a:ext cx="10042230" cy="67031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ADFE5D-461C-F6A4-D4F6-8C132942A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FPGA Processing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ED996-3D79-58CC-E57F-B6AF3CD44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>
            <a:normAutofit/>
          </a:bodyPr>
          <a:lstStyle/>
          <a:p>
            <a:pPr lvl="0"/>
            <a:r>
              <a:rPr lang="en-US" sz="2200"/>
              <a:t>Input processing and button debouncing</a:t>
            </a:r>
          </a:p>
          <a:p>
            <a:pPr lvl="0"/>
            <a:r>
              <a:rPr lang="en-US" sz="2200"/>
              <a:t>Ball physics and paddle movement</a:t>
            </a:r>
          </a:p>
          <a:p>
            <a:pPr lvl="0"/>
            <a:r>
              <a:rPr lang="en-US" sz="2200"/>
              <a:t>Parallel brick collision detection</a:t>
            </a:r>
          </a:p>
          <a:p>
            <a:pPr lvl="0"/>
            <a:r>
              <a:rPr lang="en-US" sz="2200"/>
              <a:t>Scoring and game-state management</a:t>
            </a:r>
          </a:p>
          <a:p>
            <a:pPr lvl="0"/>
            <a:r>
              <a:rPr lang="en-US" sz="2200"/>
              <a:t>Real-time pixel rendering</a:t>
            </a:r>
          </a:p>
          <a:p>
            <a:pPr lvl="0"/>
            <a:endParaRPr lang="en-US" sz="2200"/>
          </a:p>
          <a:p>
            <a:pPr lvl="0"/>
            <a:endParaRPr lang="en-US" sz="2200"/>
          </a:p>
          <a:p>
            <a:endParaRPr lang="en-US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C770A-111F-8DAE-5F3F-66E1A2CB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Iden </a:t>
            </a:r>
            <a:fld id="{BE681271-DB25-4FE6-9668-D147A73C673A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5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7997A-51DD-6756-E608-C35720F7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Why an FPGA?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5B4210-6A2B-266D-6ECC-57921F3AA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254" y="1281205"/>
            <a:ext cx="8894746" cy="4558558"/>
          </a:xfrm>
          <a:prstGeom prst="rect">
            <a:avLst/>
          </a:prstGeom>
        </p:spPr>
      </p:pic>
      <p:sp>
        <p:nvSpPr>
          <p:cNvPr id="2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C351-9CF2-62A6-6211-2E4ECE69E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>
            <a:normAutofit/>
          </a:bodyPr>
          <a:lstStyle/>
          <a:p>
            <a:pPr lvl="0"/>
            <a:r>
              <a:rPr lang="en-US" sz="2200"/>
              <a:t>Parallel collision detection</a:t>
            </a:r>
          </a:p>
          <a:p>
            <a:pPr lvl="0"/>
            <a:r>
              <a:rPr lang="en-US" sz="2200"/>
              <a:t>Independent hardware processing</a:t>
            </a:r>
          </a:p>
          <a:p>
            <a:pPr lvl="0"/>
            <a:r>
              <a:rPr lang="en-US" sz="2200"/>
              <a:t>Deterministic VGA timing</a:t>
            </a:r>
          </a:p>
          <a:p>
            <a:pPr lvl="0"/>
            <a:r>
              <a:rPr lang="en-US" sz="2200"/>
              <a:t>Scalable collision architecture</a:t>
            </a:r>
          </a:p>
          <a:p>
            <a:pPr lvl="0"/>
            <a:r>
              <a:rPr lang="en-US" sz="2200"/>
              <a:t>No external memory required</a:t>
            </a:r>
          </a:p>
          <a:p>
            <a:pPr lvl="0"/>
            <a:endParaRPr lang="en-US" sz="2200"/>
          </a:p>
          <a:p>
            <a:pPr marL="0" lvl="0" indent="0">
              <a:buNone/>
            </a:pPr>
            <a:endParaRPr lang="en-US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8ABE8-E74B-379C-6145-D9AA5A42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Iden </a:t>
            </a:r>
            <a:fld id="{BE681271-DB25-4FE6-9668-D147A73C673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92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F571C-989B-DB6D-E218-24A4B947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Technical Requirements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B8BF5-61CD-E286-D818-0856216D1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lvl="0"/>
            <a:r>
              <a:rPr lang="en-US" sz="2200"/>
              <a:t>Two external devices: Controller + VGA monitor</a:t>
            </a:r>
          </a:p>
          <a:p>
            <a:pPr lvl="0"/>
            <a:r>
              <a:rPr lang="en-US" sz="2200"/>
              <a:t>Signal processing performed in Verilog</a:t>
            </a:r>
          </a:p>
          <a:p>
            <a:pPr lvl="0"/>
            <a:r>
              <a:rPr lang="en-US" sz="2200"/>
              <a:t>XADC for analog-to-digital conversion</a:t>
            </a:r>
          </a:p>
          <a:p>
            <a:pPr lvl="0"/>
            <a:r>
              <a:rPr lang="en-US" sz="2200"/>
              <a:t>On-chip memory and logic only</a:t>
            </a:r>
          </a:p>
          <a:p>
            <a:pPr lvl="0"/>
            <a:r>
              <a:rPr lang="en-US" sz="2200"/>
              <a:t>Vivado simulation and Python verification</a:t>
            </a:r>
          </a:p>
          <a:p>
            <a:pPr lvl="0"/>
            <a:r>
              <a:rPr lang="en-US" sz="2200"/>
              <a:t>Clock domain crossing, if implemented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8BD3C-0431-A0D0-8F64-DA6107433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Iden </a:t>
            </a:r>
            <a:fld id="{BE681271-DB25-4FE6-9668-D147A73C673A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27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D7158-C062-6CCE-AEAF-B5F3778AC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600"/>
              <a:t>Development Plan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EB5B8-844D-BCA0-AE8F-460A7C15C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lvl="0"/>
            <a:r>
              <a:rPr lang="en-US" sz="2200"/>
              <a:t>Phase 1: Controller assembly and VGA output</a:t>
            </a:r>
          </a:p>
          <a:p>
            <a:pPr lvl="0"/>
            <a:r>
              <a:rPr lang="en-US" sz="2200"/>
              <a:t>Phase 2: Paddle movement and ball physics</a:t>
            </a:r>
          </a:p>
          <a:p>
            <a:pPr lvl="0"/>
            <a:r>
              <a:rPr lang="en-US" sz="2200"/>
              <a:t>Phase 3: Brick collisions, scoring, and game states</a:t>
            </a:r>
          </a:p>
          <a:p>
            <a:pPr lvl="0"/>
            <a:r>
              <a:rPr lang="en-US" sz="2200"/>
              <a:t>Phase 4: Verification and performance testing</a:t>
            </a:r>
          </a:p>
          <a:p>
            <a:pPr lvl="0"/>
            <a:r>
              <a:rPr lang="en-US" sz="2200"/>
              <a:t>Stretch Goal: Pong game mode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D0556-E04E-E0EC-9E63-C0155A21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Malik </a:t>
            </a:r>
            <a:fld id="{BE681271-DB25-4FE6-9668-D147A73C673A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2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1302F-A0D0-52E0-D800-58A6C8D4D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B58E3D-A1AC-119A-C40D-B086F66B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1271-DB25-4FE6-9668-D147A73C67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84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299495-2fed-4126-a1fc-07efdcecbfe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19A2033186714388EC4A521B78F9C9" ma:contentTypeVersion="14" ma:contentTypeDescription="Create a new document." ma:contentTypeScope="" ma:versionID="f1c7d7638075e7af3ed03e81855c2692">
  <xsd:schema xmlns:xsd="http://www.w3.org/2001/XMLSchema" xmlns:xs="http://www.w3.org/2001/XMLSchema" xmlns:p="http://schemas.microsoft.com/office/2006/metadata/properties" xmlns:ns3="bc299495-2fed-4126-a1fc-07efdcecbfe4" targetNamespace="http://schemas.microsoft.com/office/2006/metadata/properties" ma:root="true" ma:fieldsID="b95106ee7816e6660b5f9a5f2043a3bf" ns3:_="">
    <xsd:import namespace="bc299495-2fed-4126-a1fc-07efdcecbfe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LengthInSecond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99495-2fed-4126-a1fc-07efdcecbf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80C678-6D32-481E-94A5-868A55515B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212B1E-3215-4167-8351-6A850AEFC4AB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bc299495-2fed-4126-a1fc-07efdcecbfe4"/>
  </ds:schemaRefs>
</ds:datastoreItem>
</file>

<file path=customXml/itemProps3.xml><?xml version="1.0" encoding="utf-8"?>
<ds:datastoreItem xmlns:ds="http://schemas.openxmlformats.org/officeDocument/2006/customXml" ds:itemID="{B6E70C69-E6CF-4084-83A8-FE9AFD59359B}">
  <ds:schemaRefs>
    <ds:schemaRef ds:uri="bc299495-2fed-4126-a1fc-07efdcecbfe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223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Capstone Proposal </vt:lpstr>
      <vt:lpstr>Project Overview</vt:lpstr>
      <vt:lpstr>System Architecture</vt:lpstr>
      <vt:lpstr>Custom Controller</vt:lpstr>
      <vt:lpstr>FPGA Processing</vt:lpstr>
      <vt:lpstr>Why an FPGA?</vt:lpstr>
      <vt:lpstr>Technical Requirements</vt:lpstr>
      <vt:lpstr>Development Plan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Malik, Amna</dc:creator>
  <cp:lastModifiedBy>Malik, Amna</cp:lastModifiedBy>
  <cp:revision>3</cp:revision>
  <dcterms:created xsi:type="dcterms:W3CDTF">2026-10-26T22:54:03Z</dcterms:created>
  <dcterms:modified xsi:type="dcterms:W3CDTF">2026-10-27T19:36:30Z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0x0101001919A2033186714388EC4A521B78F9C9</vt:lpwstr>
  </property>
</Properties>
</file>