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1" y="-1"/>
            <a:ext cx="9144002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2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</p:grpSpPr>
        <p:sp>
          <p:nvSpPr>
            <p:cNvPr id="55" name="Google Shape;55;p2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9" name="Google Shape;109;p2"/>
          <p:cNvSpPr txBox="1"/>
          <p:nvPr>
            <p:ph type="ctrTitle"/>
          </p:nvPr>
        </p:nvSpPr>
        <p:spPr>
          <a:xfrm>
            <a:off x="1407319" y="841772"/>
            <a:ext cx="6593681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"/>
          <p:cNvSpPr txBox="1"/>
          <p:nvPr>
            <p:ph idx="1" type="subTitle"/>
          </p:nvPr>
        </p:nvSpPr>
        <p:spPr>
          <a:xfrm>
            <a:off x="1407319" y="2701528"/>
            <a:ext cx="6593681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75"/>
              <a:buNone/>
              <a:defRPr sz="15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9pPr>
          </a:lstStyle>
          <a:p/>
        </p:txBody>
      </p:sp>
      <p:sp>
        <p:nvSpPr>
          <p:cNvPr id="111" name="Google Shape;111;p2"/>
          <p:cNvSpPr txBox="1"/>
          <p:nvPr>
            <p:ph idx="10" type="dt"/>
          </p:nvPr>
        </p:nvSpPr>
        <p:spPr>
          <a:xfrm>
            <a:off x="5308133" y="40576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"/>
          <p:cNvSpPr txBox="1"/>
          <p:nvPr>
            <p:ph idx="11" type="ftr"/>
          </p:nvPr>
        </p:nvSpPr>
        <p:spPr>
          <a:xfrm>
            <a:off x="1407318" y="4057651"/>
            <a:ext cx="38436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7422684" y="4057650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6" name="Google Shape;116;p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9pPr>
          </a:lstStyle>
          <a:p/>
        </p:txBody>
      </p:sp>
      <p:sp>
        <p:nvSpPr>
          <p:cNvPr id="117" name="Google Shape;117;p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2" name="Google Shape;122;p4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856058" y="1064420"/>
            <a:ext cx="74295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856058" y="3318272"/>
            <a:ext cx="7429500" cy="1031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856058" y="1687114"/>
            <a:ext cx="3658792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4" name="Google Shape;134;p6"/>
          <p:cNvSpPr txBox="1"/>
          <p:nvPr>
            <p:ph idx="2" type="body"/>
          </p:nvPr>
        </p:nvSpPr>
        <p:spPr>
          <a:xfrm>
            <a:off x="4629151" y="1687114"/>
            <a:ext cx="3656408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856058" y="464345"/>
            <a:ext cx="7429500" cy="11084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1027515" y="1687115"/>
            <a:ext cx="3487337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141" name="Google Shape;141;p7"/>
          <p:cNvSpPr txBox="1"/>
          <p:nvPr>
            <p:ph idx="2" type="body"/>
          </p:nvPr>
        </p:nvSpPr>
        <p:spPr>
          <a:xfrm>
            <a:off x="856058" y="2305048"/>
            <a:ext cx="3658793" cy="2038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idx="3" type="body"/>
          </p:nvPr>
        </p:nvSpPr>
        <p:spPr>
          <a:xfrm>
            <a:off x="4800606" y="1687114"/>
            <a:ext cx="3484952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143" name="Google Shape;143;p7"/>
          <p:cNvSpPr txBox="1"/>
          <p:nvPr>
            <p:ph idx="4" type="body"/>
          </p:nvPr>
        </p:nvSpPr>
        <p:spPr>
          <a:xfrm>
            <a:off x="4629150" y="2305048"/>
            <a:ext cx="3656408" cy="2038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4" name="Google Shape;144;p7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8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9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9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860029" y="457201"/>
            <a:ext cx="2892028" cy="1229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3867150" y="444499"/>
            <a:ext cx="4418407" cy="3898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9" name="Google Shape;159;p10"/>
          <p:cNvSpPr txBox="1"/>
          <p:nvPr>
            <p:ph idx="2" type="body"/>
          </p:nvPr>
        </p:nvSpPr>
        <p:spPr>
          <a:xfrm>
            <a:off x="860029" y="1687114"/>
            <a:ext cx="2892028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60" name="Google Shape;160;p10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0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0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856060" y="457200"/>
            <a:ext cx="4450881" cy="12299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1"/>
          <p:cNvSpPr/>
          <p:nvPr>
            <p:ph idx="2" type="pic"/>
          </p:nvPr>
        </p:nvSpPr>
        <p:spPr>
          <a:xfrm>
            <a:off x="5535541" y="457201"/>
            <a:ext cx="2750018" cy="38861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856058" y="1687114"/>
            <a:ext cx="4450883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67" name="Google Shape;167;p11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1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1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856058" y="3228499"/>
            <a:ext cx="7434266" cy="6145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2"/>
          <p:cNvSpPr/>
          <p:nvPr>
            <p:ph idx="2" type="pic"/>
          </p:nvPr>
        </p:nvSpPr>
        <p:spPr>
          <a:xfrm>
            <a:off x="856058" y="454819"/>
            <a:ext cx="7434266" cy="2474834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856024" y="3843015"/>
            <a:ext cx="7433144" cy="511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74" name="Google Shape;174;p12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2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/>
          <p:nvPr>
            <p:ph type="title"/>
          </p:nvPr>
        </p:nvSpPr>
        <p:spPr>
          <a:xfrm>
            <a:off x="856093" y="457200"/>
            <a:ext cx="7429466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3"/>
          <p:cNvSpPr txBox="1"/>
          <p:nvPr>
            <p:ph idx="1" type="body"/>
          </p:nvPr>
        </p:nvSpPr>
        <p:spPr>
          <a:xfrm>
            <a:off x="856058" y="3314700"/>
            <a:ext cx="7428344" cy="1028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80" name="Google Shape;180;p13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3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3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>
            <p:ph type="title"/>
          </p:nvPr>
        </p:nvSpPr>
        <p:spPr>
          <a:xfrm>
            <a:off x="1084659" y="457200"/>
            <a:ext cx="6977064" cy="2061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4"/>
          <p:cNvSpPr txBox="1"/>
          <p:nvPr>
            <p:ph idx="1" type="body"/>
          </p:nvPr>
        </p:nvSpPr>
        <p:spPr>
          <a:xfrm>
            <a:off x="1290484" y="2524168"/>
            <a:ext cx="6564224" cy="411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86" name="Google Shape;186;p14"/>
          <p:cNvSpPr txBox="1"/>
          <p:nvPr>
            <p:ph idx="2" type="body"/>
          </p:nvPr>
        </p:nvSpPr>
        <p:spPr>
          <a:xfrm>
            <a:off x="856058" y="3232439"/>
            <a:ext cx="7429502" cy="1117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87" name="Google Shape;187;p14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4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b="0" lang="en-US" sz="6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b="0" lang="en-US" sz="6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856058" y="1600531"/>
            <a:ext cx="7429501" cy="1883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5"/>
          <p:cNvSpPr txBox="1"/>
          <p:nvPr>
            <p:ph idx="1" type="body"/>
          </p:nvPr>
        </p:nvSpPr>
        <p:spPr>
          <a:xfrm>
            <a:off x="856023" y="3493241"/>
            <a:ext cx="7428379" cy="855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95" name="Google Shape;195;p15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5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5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6"/>
          <p:cNvSpPr txBox="1"/>
          <p:nvPr>
            <p:ph idx="1" type="body"/>
          </p:nvPr>
        </p:nvSpPr>
        <p:spPr>
          <a:xfrm>
            <a:off x="856058" y="2005847"/>
            <a:ext cx="2397674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01" name="Google Shape;201;p16"/>
          <p:cNvSpPr txBox="1"/>
          <p:nvPr>
            <p:ph idx="2" type="body"/>
          </p:nvPr>
        </p:nvSpPr>
        <p:spPr>
          <a:xfrm>
            <a:off x="845939" y="2520197"/>
            <a:ext cx="2406551" cy="182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02" name="Google Shape;202;p16"/>
          <p:cNvSpPr txBox="1"/>
          <p:nvPr>
            <p:ph idx="3" type="body"/>
          </p:nvPr>
        </p:nvSpPr>
        <p:spPr>
          <a:xfrm>
            <a:off x="3386075" y="2008226"/>
            <a:ext cx="2388289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03" name="Google Shape;203;p16"/>
          <p:cNvSpPr txBox="1"/>
          <p:nvPr>
            <p:ph idx="4" type="body"/>
          </p:nvPr>
        </p:nvSpPr>
        <p:spPr>
          <a:xfrm>
            <a:off x="3378160" y="2522576"/>
            <a:ext cx="2396873" cy="182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04" name="Google Shape;204;p16"/>
          <p:cNvSpPr txBox="1"/>
          <p:nvPr>
            <p:ph idx="5" type="body"/>
          </p:nvPr>
        </p:nvSpPr>
        <p:spPr>
          <a:xfrm>
            <a:off x="5889332" y="2005847"/>
            <a:ext cx="2396226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05" name="Google Shape;205;p16"/>
          <p:cNvSpPr txBox="1"/>
          <p:nvPr>
            <p:ph idx="6" type="body"/>
          </p:nvPr>
        </p:nvSpPr>
        <p:spPr>
          <a:xfrm>
            <a:off x="5889332" y="2520197"/>
            <a:ext cx="2396226" cy="182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06" name="Google Shape;206;p16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6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6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856059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856060" y="3303447"/>
            <a:ext cx="2396430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0"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12" name="Google Shape;212;p17"/>
          <p:cNvSpPr/>
          <p:nvPr>
            <p:ph idx="2" type="pic"/>
          </p:nvPr>
        </p:nvSpPr>
        <p:spPr>
          <a:xfrm>
            <a:off x="856060" y="2000249"/>
            <a:ext cx="2396430" cy="1143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3" name="Google Shape;213;p17"/>
          <p:cNvSpPr txBox="1"/>
          <p:nvPr>
            <p:ph idx="3" type="body"/>
          </p:nvPr>
        </p:nvSpPr>
        <p:spPr>
          <a:xfrm>
            <a:off x="856060" y="3735644"/>
            <a:ext cx="2396430" cy="613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14" name="Google Shape;214;p17"/>
          <p:cNvSpPr txBox="1"/>
          <p:nvPr>
            <p:ph idx="4" type="body"/>
          </p:nvPr>
        </p:nvSpPr>
        <p:spPr>
          <a:xfrm>
            <a:off x="3366790" y="3303447"/>
            <a:ext cx="2400300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0"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15" name="Google Shape;215;p17"/>
          <p:cNvSpPr/>
          <p:nvPr>
            <p:ph idx="5" type="pic"/>
          </p:nvPr>
        </p:nvSpPr>
        <p:spPr>
          <a:xfrm>
            <a:off x="3366790" y="2000249"/>
            <a:ext cx="2399205" cy="1143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6" name="Google Shape;216;p17"/>
          <p:cNvSpPr txBox="1"/>
          <p:nvPr>
            <p:ph idx="6" type="body"/>
          </p:nvPr>
        </p:nvSpPr>
        <p:spPr>
          <a:xfrm>
            <a:off x="3365695" y="3735643"/>
            <a:ext cx="2400300" cy="607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17" name="Google Shape;217;p17"/>
          <p:cNvSpPr txBox="1"/>
          <p:nvPr>
            <p:ph idx="7" type="body"/>
          </p:nvPr>
        </p:nvSpPr>
        <p:spPr>
          <a:xfrm>
            <a:off x="5889426" y="3303446"/>
            <a:ext cx="2393056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0"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18" name="Google Shape;218;p17"/>
          <p:cNvSpPr/>
          <p:nvPr>
            <p:ph idx="8" type="pic"/>
          </p:nvPr>
        </p:nvSpPr>
        <p:spPr>
          <a:xfrm>
            <a:off x="5889332" y="2000249"/>
            <a:ext cx="2396227" cy="1143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9" name="Google Shape;219;p17"/>
          <p:cNvSpPr txBox="1"/>
          <p:nvPr>
            <p:ph idx="9" type="body"/>
          </p:nvPr>
        </p:nvSpPr>
        <p:spPr>
          <a:xfrm>
            <a:off x="5889332" y="3735641"/>
            <a:ext cx="2396226" cy="607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20" name="Google Shape;220;p17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8"/>
          <p:cNvSpPr txBox="1"/>
          <p:nvPr>
            <p:ph idx="1" type="body"/>
          </p:nvPr>
        </p:nvSpPr>
        <p:spPr>
          <a:xfrm rot="5400000">
            <a:off x="3242667" y="-699492"/>
            <a:ext cx="2656286" cy="7429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6" name="Google Shape;226;p18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8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>
            <p:ph type="title"/>
          </p:nvPr>
        </p:nvSpPr>
        <p:spPr>
          <a:xfrm rot="5400000">
            <a:off x="5590580" y="1648422"/>
            <a:ext cx="3886201" cy="1503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9"/>
          <p:cNvSpPr txBox="1"/>
          <p:nvPr>
            <p:ph idx="1" type="body"/>
          </p:nvPr>
        </p:nvSpPr>
        <p:spPr>
          <a:xfrm rot="5400000">
            <a:off x="1818678" y="-505421"/>
            <a:ext cx="3886201" cy="5811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32" name="Google Shape;232;p19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9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9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1" y="-1"/>
            <a:ext cx="9144002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8" name="Google Shape;8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47" name="Google Shape;47;p1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b="0" i="0" sz="27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"/>
          <p:cNvSpPr txBox="1"/>
          <p:nvPr>
            <p:ph idx="1" type="body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7663" lvl="1" marL="914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5756" lvl="2" marL="1371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23850" lvl="4" marL="22860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1944" lvl="5" marL="27432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1944" lvl="6" marL="3200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1944" lvl="7" marL="3657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1944" lvl="8" marL="4114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88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sz="788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sz="788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sz="788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sz="788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sz="788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sz="788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sz="788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sz="788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sz="788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humanbenchmark.com/tests/reactiontime" TargetMode="External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ctrTitle"/>
          </p:nvPr>
        </p:nvSpPr>
        <p:spPr>
          <a:xfrm>
            <a:off x="1407319" y="841772"/>
            <a:ext cx="6593681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wentieth Century"/>
              <a:buNone/>
            </a:pPr>
            <a:r>
              <a:rPr lang="en-US"/>
              <a:t>EFFECT OF CAFFEINE AND PRACTICE ON HUMAN REACTION TIME</a:t>
            </a:r>
            <a:endParaRPr/>
          </a:p>
        </p:txBody>
      </p:sp>
      <p:sp>
        <p:nvSpPr>
          <p:cNvPr id="240" name="Google Shape;240;p20"/>
          <p:cNvSpPr txBox="1"/>
          <p:nvPr>
            <p:ph idx="1" type="subTitle"/>
          </p:nvPr>
        </p:nvSpPr>
        <p:spPr>
          <a:xfrm>
            <a:off x="1407319" y="2701528"/>
            <a:ext cx="6593681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75"/>
              <a:buNone/>
            </a:pPr>
            <a:r>
              <a:rPr lang="en-US">
                <a:solidFill>
                  <a:srgbClr val="BCFBFB"/>
                </a:solidFill>
              </a:rPr>
              <a:t>PRESENTED AND TESTED BY: AMNA MALIK, MATTHEW SCHELL, AND BENJAMIN HAGGARD</a:t>
            </a:r>
            <a:endParaRPr>
              <a:solidFill>
                <a:srgbClr val="BCFBFB"/>
              </a:solidFill>
            </a:endParaRPr>
          </a:p>
        </p:txBody>
      </p:sp>
      <p:sp>
        <p:nvSpPr>
          <p:cNvPr id="241" name="Google Shape;241;p20"/>
          <p:cNvSpPr txBox="1"/>
          <p:nvPr>
            <p:ph idx="12" type="sldNum"/>
          </p:nvPr>
        </p:nvSpPr>
        <p:spPr>
          <a:xfrm>
            <a:off x="7422684" y="4057650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1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21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248" name="Google Shape;248;p2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249" name="Google Shape;249;p2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0" name="Google Shape;250;p2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6" name="Google Shape;256;p2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9" name="Google Shape;259;p2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260" name="Google Shape;260;p2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61" name="Google Shape;261;p2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2" name="Google Shape;262;p2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3" name="Google Shape;263;p2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5" name="Google Shape;265;p2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6" name="Google Shape;266;p2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7" name="Google Shape;267;p2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8" name="Google Shape;268;p2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9" name="Google Shape;269;p2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0" name="Google Shape;270;p2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1" name="Google Shape;271;p2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5" name="Google Shape;275;p2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276" name="Google Shape;276;p2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277" name="Google Shape;277;p2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8" name="Google Shape;278;p2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9" name="Google Shape;279;p2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0" name="Google Shape;280;p2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1" name="Google Shape;281;p2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2" name="Google Shape;282;p2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3" name="Google Shape;283;p2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4" name="Google Shape;284;p2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5" name="Google Shape;285;p2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287" name="Google Shape;28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88" name="Google Shape;288;p21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 txBox="1"/>
          <p:nvPr>
            <p:ph type="title"/>
          </p:nvPr>
        </p:nvSpPr>
        <p:spPr>
          <a:xfrm>
            <a:off x="856059" y="463888"/>
            <a:ext cx="3344465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2400"/>
              <a:t>EXPERIMENT DESIGN AND DATA COLLECTION</a:t>
            </a:r>
            <a:endParaRPr/>
          </a:p>
        </p:txBody>
      </p:sp>
      <p:sp>
        <p:nvSpPr>
          <p:cNvPr id="290" name="Google Shape;290;p21"/>
          <p:cNvSpPr txBox="1"/>
          <p:nvPr>
            <p:ph idx="2" type="body"/>
          </p:nvPr>
        </p:nvSpPr>
        <p:spPr>
          <a:xfrm>
            <a:off x="859035" y="1528960"/>
            <a:ext cx="3344465" cy="297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5143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1600"/>
              <a:t>Human Benchmark reaction time test was used</a:t>
            </a:r>
            <a:endParaRPr/>
          </a:p>
          <a:p>
            <a:pPr indent="-285750" lvl="0" marL="5143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1600"/>
              <a:t>3 used participants total</a:t>
            </a:r>
            <a:endParaRPr/>
          </a:p>
          <a:p>
            <a:pPr indent="-285750" lvl="0" marL="5143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1600"/>
              <a:t>Each participant completed: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</a:pPr>
            <a:r>
              <a:rPr lang="en-US" sz="1600"/>
              <a:t>30 baseline trials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</a:pPr>
            <a:r>
              <a:rPr lang="en-US" sz="1600"/>
              <a:t>30 caffeine trials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</a:pPr>
            <a:r>
              <a:rPr lang="en-US" sz="1600"/>
              <a:t>30 practice trials</a:t>
            </a:r>
            <a:endParaRPr/>
          </a:p>
          <a:p>
            <a:pPr indent="-285750" lvl="0" marL="51435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2000"/>
              <a:buChar char="●"/>
            </a:pPr>
            <a:r>
              <a:rPr lang="en-US" sz="1600"/>
              <a:t>Total samples collected: 270</a:t>
            </a:r>
            <a:endParaRPr/>
          </a:p>
        </p:txBody>
      </p:sp>
      <p:pic>
        <p:nvPicPr>
          <p:cNvPr id="291" name="Google Shape;2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094313"/>
            <a:ext cx="4092209" cy="2936160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grpSp>
        <p:nvGrpSpPr>
          <p:cNvPr id="292" name="Google Shape;292;p21"/>
          <p:cNvGrpSpPr/>
          <p:nvPr/>
        </p:nvGrpSpPr>
        <p:grpSpPr>
          <a:xfrm>
            <a:off x="0" y="0"/>
            <a:ext cx="915604" cy="5143499"/>
            <a:chOff x="-14288" y="0"/>
            <a:chExt cx="1220788" cy="6858001"/>
          </a:xfrm>
        </p:grpSpPr>
        <p:sp>
          <p:nvSpPr>
            <p:cNvPr id="293" name="Google Shape;293;p21"/>
            <p:cNvSpPr/>
            <p:nvPr/>
          </p:nvSpPr>
          <p:spPr>
            <a:xfrm>
              <a:off x="114300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3" name="Google Shape;303;p21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cxnSp>
          <p:nvCxnSpPr>
            <p:cNvPr id="304" name="Google Shape;304;p21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05" name="Google Shape;305;p21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>
              <a:off x="133350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320" name="Google Shape;3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2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22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327" name="Google Shape;327;p22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328" name="Google Shape;328;p22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29" name="Google Shape;329;p22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0" name="Google Shape;330;p22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1" name="Google Shape;331;p22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2" name="Google Shape;332;p22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3" name="Google Shape;333;p22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4" name="Google Shape;334;p22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5" name="Google Shape;335;p22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6" name="Google Shape;336;p22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7" name="Google Shape;337;p22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8" name="Google Shape;338;p22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339" name="Google Shape;339;p22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340" name="Google Shape;340;p22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1" name="Google Shape;341;p22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2" name="Google Shape;342;p22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3" name="Google Shape;343;p22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4" name="Google Shape;344;p22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5" name="Google Shape;345;p22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6" name="Google Shape;346;p22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7" name="Google Shape;347;p22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8" name="Google Shape;348;p22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9" name="Google Shape;349;p22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0" name="Google Shape;350;p22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1" name="Google Shape;351;p22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2" name="Google Shape;352;p22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3" name="Google Shape;353;p22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4" name="Google Shape;354;p22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355" name="Google Shape;355;p22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56" name="Google Shape;356;p22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7" name="Google Shape;357;p22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8" name="Google Shape;358;p22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9" name="Google Shape;359;p22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60" name="Google Shape;360;p22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61" name="Google Shape;361;p22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62" name="Google Shape;362;p22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63" name="Google Shape;363;p22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64" name="Google Shape;364;p22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65" name="Google Shape;365;p22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366" name="Google Shape;366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67" name="Google Shape;367;p22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1123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2"/>
          <p:cNvSpPr txBox="1"/>
          <p:nvPr>
            <p:ph type="title"/>
          </p:nvPr>
        </p:nvSpPr>
        <p:spPr>
          <a:xfrm>
            <a:off x="856059" y="463888"/>
            <a:ext cx="3344465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2400"/>
              <a:t>RAW DATA PREVIEW AND DATASET STRUCTURE</a:t>
            </a:r>
            <a:endParaRPr/>
          </a:p>
        </p:txBody>
      </p:sp>
      <p:sp>
        <p:nvSpPr>
          <p:cNvPr id="369" name="Google Shape;369;p22"/>
          <p:cNvSpPr txBox="1"/>
          <p:nvPr>
            <p:ph idx="2" type="body"/>
          </p:nvPr>
        </p:nvSpPr>
        <p:spPr>
          <a:xfrm>
            <a:off x="856059" y="1687115"/>
            <a:ext cx="3344465" cy="297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5750" lvl="0" marL="5143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Char char="●"/>
            </a:pPr>
            <a:r>
              <a:rPr lang="en-US" sz="1400"/>
              <a:t>Raw reaction time data was collected in Google Sheets</a:t>
            </a:r>
            <a:endParaRPr/>
          </a:p>
          <a:p>
            <a:pPr indent="-285750" lvl="0" marL="5143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●"/>
            </a:pPr>
            <a:r>
              <a:rPr lang="en-US" sz="1400"/>
              <a:t>Data included: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○"/>
            </a:pPr>
            <a:r>
              <a:rPr lang="en-US" sz="1400"/>
              <a:t>Participant Name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○"/>
            </a:pPr>
            <a:r>
              <a:rPr lang="en-US" sz="1400"/>
              <a:t>Trial Number</a:t>
            </a:r>
            <a:endParaRPr/>
          </a:p>
          <a:p>
            <a:pPr indent="-285749" lvl="1" marL="9715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○"/>
            </a:pPr>
            <a:r>
              <a:rPr lang="en-US" sz="1400"/>
              <a:t>Condition</a:t>
            </a:r>
            <a:endParaRPr sz="1400"/>
          </a:p>
          <a:p>
            <a:pPr indent="-285749" lvl="1" marL="9715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○"/>
            </a:pPr>
            <a:r>
              <a:rPr lang="en-US" sz="1400"/>
              <a:t>Time of Day</a:t>
            </a:r>
            <a:endParaRPr sz="1400"/>
          </a:p>
          <a:p>
            <a:pPr indent="-285750" lvl="1" marL="9715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○"/>
            </a:pPr>
            <a:r>
              <a:rPr lang="en-US" sz="1400"/>
              <a:t>Reaction Time (ms)</a:t>
            </a:r>
            <a:endParaRPr/>
          </a:p>
          <a:p>
            <a:pPr indent="-285749" lvl="0" marL="5143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●"/>
            </a:pPr>
            <a:r>
              <a:rPr lang="en-US" sz="1400"/>
              <a:t>Raw spreadsheet data was cleaned and converted into a structured dataset using Python.</a:t>
            </a:r>
            <a:endParaRPr/>
          </a:p>
        </p:txBody>
      </p:sp>
      <p:pic>
        <p:nvPicPr>
          <p:cNvPr id="370" name="Google Shape;37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380768"/>
            <a:ext cx="4092209" cy="2363250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grpSp>
        <p:nvGrpSpPr>
          <p:cNvPr id="371" name="Google Shape;371;p22"/>
          <p:cNvGrpSpPr/>
          <p:nvPr/>
        </p:nvGrpSpPr>
        <p:grpSpPr>
          <a:xfrm>
            <a:off x="0" y="0"/>
            <a:ext cx="915604" cy="5143499"/>
            <a:chOff x="-14288" y="0"/>
            <a:chExt cx="1220788" cy="6858001"/>
          </a:xfrm>
        </p:grpSpPr>
        <p:sp>
          <p:nvSpPr>
            <p:cNvPr id="372" name="Google Shape;372;p22"/>
            <p:cNvSpPr/>
            <p:nvPr/>
          </p:nvSpPr>
          <p:spPr>
            <a:xfrm>
              <a:off x="114300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cxnSp>
          <p:nvCxnSpPr>
            <p:cNvPr id="383" name="Google Shape;383;p22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84" name="Google Shape;384;p22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133350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399" name="Google Shape;3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3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p23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406" name="Google Shape;406;p23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407" name="Google Shape;407;p23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08" name="Google Shape;408;p23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09" name="Google Shape;409;p23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1" name="Google Shape;411;p23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2" name="Google Shape;412;p23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3" name="Google Shape;413;p23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4" name="Google Shape;414;p23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5" name="Google Shape;415;p23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6" name="Google Shape;416;p23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7" name="Google Shape;417;p23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418" name="Google Shape;418;p23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419" name="Google Shape;419;p23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4" name="Google Shape;424;p23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5" name="Google Shape;425;p23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0" name="Google Shape;430;p23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1" name="Google Shape;431;p23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2" name="Google Shape;432;p23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3" name="Google Shape;433;p23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434" name="Google Shape;434;p23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435" name="Google Shape;435;p23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6" name="Google Shape;436;p23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7" name="Google Shape;437;p23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8" name="Google Shape;438;p23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9" name="Google Shape;439;p23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0" name="Google Shape;440;p23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1" name="Google Shape;441;p23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2" name="Google Shape;442;p23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3" name="Google Shape;443;p23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4" name="Google Shape;444;p23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grpSp>
        <p:nvGrpSpPr>
          <p:cNvPr id="445" name="Google Shape;445;p23"/>
          <p:cNvGrpSpPr/>
          <p:nvPr/>
        </p:nvGrpSpPr>
        <p:grpSpPr>
          <a:xfrm>
            <a:off x="0" y="0"/>
            <a:ext cx="9144002" cy="5143500"/>
            <a:chOff x="0" y="-1"/>
            <a:chExt cx="12192003" cy="6858001"/>
          </a:xfrm>
        </p:grpSpPr>
        <p:sp>
          <p:nvSpPr>
            <p:cNvPr id="446" name="Google Shape;446;p23"/>
            <p:cNvSpPr/>
            <p:nvPr/>
          </p:nvSpPr>
          <p:spPr>
            <a:xfrm>
              <a:off x="1" y="-1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447" name="Google Shape;447;p23"/>
            <p:cNvPicPr preferRelativeResize="0"/>
            <p:nvPr/>
          </p:nvPicPr>
          <p:blipFill rotWithShape="1">
            <a:blip r:embed="rId5">
              <a:alphaModFix amt="30000"/>
            </a:blip>
            <a:srcRect b="0" l="0" r="0" t="0"/>
            <a:stretch/>
          </p:blipFill>
          <p:spPr>
            <a:xfrm>
              <a:off x="0" y="-1"/>
              <a:ext cx="12192003" cy="68580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8" name="Google Shape;448;p23"/>
          <p:cNvGrpSpPr/>
          <p:nvPr/>
        </p:nvGrpSpPr>
        <p:grpSpPr>
          <a:xfrm>
            <a:off x="2386333" y="0"/>
            <a:ext cx="1728807" cy="5143499"/>
            <a:chOff x="0" y="0"/>
            <a:chExt cx="2305051" cy="6858001"/>
          </a:xfrm>
        </p:grpSpPr>
        <p:sp>
          <p:nvSpPr>
            <p:cNvPr id="449" name="Google Shape;449;p23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503" name="Google Shape;503;p23"/>
          <p:cNvSpPr txBox="1"/>
          <p:nvPr>
            <p:ph type="title"/>
          </p:nvPr>
        </p:nvSpPr>
        <p:spPr>
          <a:xfrm>
            <a:off x="4118406" y="463888"/>
            <a:ext cx="4408257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3600"/>
              <a:t>EDA: DISTRIBUTIONS</a:t>
            </a:r>
            <a:endParaRPr/>
          </a:p>
        </p:txBody>
      </p:sp>
      <p:pic>
        <p:nvPicPr>
          <p:cNvPr id="504" name="Google Shape;504;p23"/>
          <p:cNvPicPr preferRelativeResize="0"/>
          <p:nvPr/>
        </p:nvPicPr>
        <p:blipFill rotWithShape="1">
          <a:blip r:embed="rId6">
            <a:alphaModFix/>
          </a:blip>
          <a:srcRect b="349" l="1399" r="5279" t="-926"/>
          <a:stretch/>
        </p:blipFill>
        <p:spPr>
          <a:xfrm>
            <a:off x="-20398" y="-21431"/>
            <a:ext cx="3531058" cy="2594371"/>
          </a:xfrm>
          <a:custGeom>
            <a:rect b="b" l="l" r="r" t="t"/>
            <a:pathLst>
              <a:path extrusionOk="0" h="3427413" w="4635583">
                <a:moveTo>
                  <a:pt x="0" y="0"/>
                </a:moveTo>
                <a:lnTo>
                  <a:pt x="4635583" y="0"/>
                </a:lnTo>
                <a:lnTo>
                  <a:pt x="4635583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505" name="Google Shape;505;p23"/>
          <p:cNvPicPr preferRelativeResize="0"/>
          <p:nvPr/>
        </p:nvPicPr>
        <p:blipFill rotWithShape="1">
          <a:blip r:embed="rId7">
            <a:alphaModFix/>
          </a:blip>
          <a:srcRect b="-1" l="1004" r="6209" t="-4"/>
          <a:stretch/>
        </p:blipFill>
        <p:spPr>
          <a:xfrm>
            <a:off x="-4198" y="2570560"/>
            <a:ext cx="3505267" cy="2572940"/>
          </a:xfrm>
          <a:custGeom>
            <a:rect b="b" l="l" r="r" t="t"/>
            <a:pathLst>
              <a:path extrusionOk="0" h="3430587" w="4635583">
                <a:moveTo>
                  <a:pt x="0" y="0"/>
                </a:moveTo>
                <a:lnTo>
                  <a:pt x="4635583" y="0"/>
                </a:lnTo>
                <a:lnTo>
                  <a:pt x="4635583" y="3430587"/>
                </a:lnTo>
                <a:lnTo>
                  <a:pt x="0" y="3430587"/>
                </a:lnTo>
                <a:close/>
              </a:path>
            </a:pathLst>
          </a:custGeom>
          <a:noFill/>
          <a:ln>
            <a:noFill/>
          </a:ln>
        </p:spPr>
      </p:pic>
      <p:cxnSp>
        <p:nvCxnSpPr>
          <p:cNvPr id="506" name="Google Shape;506;p23"/>
          <p:cNvCxnSpPr/>
          <p:nvPr/>
        </p:nvCxnSpPr>
        <p:spPr>
          <a:xfrm>
            <a:off x="3474362" y="-348"/>
            <a:ext cx="1984" cy="5143848"/>
          </a:xfrm>
          <a:prstGeom prst="straightConnector1">
            <a:avLst/>
          </a:prstGeom>
          <a:solidFill>
            <a:schemeClr val="lt2">
              <a:alpha val="60000"/>
            </a:schemeClr>
          </a:solidFill>
          <a:ln cap="flat" cmpd="sng" w="19050">
            <a:solidFill>
              <a:schemeClr val="lt2">
                <a:alpha val="6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58039"/>
              </a:srgbClr>
            </a:outerShdw>
          </a:effectLst>
        </p:spPr>
      </p:cxnSp>
      <p:cxnSp>
        <p:nvCxnSpPr>
          <p:cNvPr id="507" name="Google Shape;507;p23"/>
          <p:cNvCxnSpPr/>
          <p:nvPr/>
        </p:nvCxnSpPr>
        <p:spPr>
          <a:xfrm>
            <a:off x="-4197" y="2570560"/>
            <a:ext cx="3476686" cy="0"/>
          </a:xfrm>
          <a:prstGeom prst="straightConnector1">
            <a:avLst/>
          </a:prstGeom>
          <a:solidFill>
            <a:schemeClr val="lt2">
              <a:alpha val="60000"/>
            </a:schemeClr>
          </a:solidFill>
          <a:ln cap="flat" cmpd="sng" w="19050">
            <a:solidFill>
              <a:schemeClr val="lt2">
                <a:alpha val="6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58039"/>
              </a:srgbClr>
            </a:outerShdw>
          </a:effectLst>
        </p:spPr>
      </p:cxnSp>
      <p:sp>
        <p:nvSpPr>
          <p:cNvPr id="508" name="Google Shape;508;p23"/>
          <p:cNvSpPr txBox="1"/>
          <p:nvPr>
            <p:ph idx="2" type="body"/>
          </p:nvPr>
        </p:nvSpPr>
        <p:spPr>
          <a:xfrm>
            <a:off x="4118406" y="1687115"/>
            <a:ext cx="4408258" cy="2656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28600" lvl="0" marL="5143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Practice condition produced the fastest average reaction time</a:t>
            </a:r>
            <a:endParaRPr/>
          </a:p>
          <a:p>
            <a:pPr indent="-228600" lvl="0" marL="5143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Baseline condition produced the slowest average reaction time</a:t>
            </a:r>
            <a:endParaRPr/>
          </a:p>
          <a:p>
            <a:pPr indent="-228600" lvl="0" marL="5143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Reaction time data appeared normally distributed</a:t>
            </a:r>
            <a:endParaRPr/>
          </a:p>
          <a:p>
            <a:pPr indent="-228600" lvl="0" marL="5143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Slight right skewness was observed due to slower outliers</a:t>
            </a:r>
            <a:endParaRPr/>
          </a:p>
          <a:p>
            <a:pPr indent="-228600" lvl="0" marL="5143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Practice condition had the lowest median reaction time</a:t>
            </a:r>
            <a:endParaRPr/>
          </a:p>
          <a:p>
            <a:pPr indent="-228600" lvl="0" marL="51435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Outliers were present across all conditions</a:t>
            </a:r>
            <a:endParaRPr/>
          </a:p>
        </p:txBody>
      </p:sp>
      <p:sp>
        <p:nvSpPr>
          <p:cNvPr id="509" name="Google Shape;509;p23"/>
          <p:cNvSpPr txBox="1"/>
          <p:nvPr>
            <p:ph idx="12" type="sldNum"/>
          </p:nvPr>
        </p:nvSpPr>
        <p:spPr>
          <a:xfrm>
            <a:off x="7707240" y="4412455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24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24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516" name="Google Shape;516;p24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517" name="Google Shape;517;p24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18" name="Google Shape;518;p24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19" name="Google Shape;519;p24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20" name="Google Shape;520;p24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21" name="Google Shape;521;p24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24" name="Google Shape;524;p24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25" name="Google Shape;525;p24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26" name="Google Shape;526;p24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528" name="Google Shape;528;p24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529" name="Google Shape;529;p24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1" name="Google Shape;531;p24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2" name="Google Shape;532;p24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4" name="Google Shape;534;p24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5" name="Google Shape;535;p24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7" name="Google Shape;537;p24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8" name="Google Shape;538;p24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9" name="Google Shape;539;p24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40" name="Google Shape;540;p24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41" name="Google Shape;541;p24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544" name="Google Shape;544;p24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545" name="Google Shape;545;p24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46" name="Google Shape;546;p24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49" name="Google Shape;549;p24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50" name="Google Shape;550;p24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51" name="Google Shape;551;p24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52" name="Google Shape;552;p24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53" name="Google Shape;553;p24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555" name="Google Shape;555;p24"/>
          <p:cNvSpPr txBox="1"/>
          <p:nvPr>
            <p:ph type="title"/>
          </p:nvPr>
        </p:nvSpPr>
        <p:spPr>
          <a:xfrm>
            <a:off x="4927467" y="463888"/>
            <a:ext cx="3560316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2800"/>
              <a:t>NORMALITY AND TIME SERIES ANALYSIS</a:t>
            </a:r>
            <a:endParaRPr/>
          </a:p>
        </p:txBody>
      </p:sp>
      <p:sp>
        <p:nvSpPr>
          <p:cNvPr id="556" name="Google Shape;556;p24"/>
          <p:cNvSpPr/>
          <p:nvPr/>
        </p:nvSpPr>
        <p:spPr>
          <a:xfrm>
            <a:off x="599212" y="606042"/>
            <a:ext cx="3964782" cy="3925796"/>
          </a:xfrm>
          <a:prstGeom prst="round2DiagRect">
            <a:avLst>
              <a:gd fmla="val 7418" name="adj1"/>
              <a:gd fmla="val 0" name="adj2"/>
            </a:avLst>
          </a:prstGeom>
          <a:solidFill>
            <a:srgbClr val="FFFFFF"/>
          </a:solidFill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57" name="Google Shape;557;p24"/>
          <p:cNvPicPr preferRelativeResize="0"/>
          <p:nvPr/>
        </p:nvPicPr>
        <p:blipFill rotWithShape="1">
          <a:blip r:embed="rId5">
            <a:alphaModFix/>
          </a:blip>
          <a:srcRect b="-537" l="0" r="-4" t="428"/>
          <a:stretch/>
        </p:blipFill>
        <p:spPr>
          <a:xfrm>
            <a:off x="1541264" y="606042"/>
            <a:ext cx="2072639" cy="2069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4"/>
          <p:cNvPicPr preferRelativeResize="0"/>
          <p:nvPr/>
        </p:nvPicPr>
        <p:blipFill rotWithShape="1">
          <a:blip r:embed="rId6">
            <a:alphaModFix/>
          </a:blip>
          <a:srcRect b="2" l="-517" r="1526" t="-1"/>
          <a:stretch/>
        </p:blipFill>
        <p:spPr>
          <a:xfrm>
            <a:off x="1009099" y="2675671"/>
            <a:ext cx="3136967" cy="1750813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4"/>
          <p:cNvSpPr txBox="1"/>
          <p:nvPr>
            <p:ph idx="2" type="body"/>
          </p:nvPr>
        </p:nvSpPr>
        <p:spPr>
          <a:xfrm>
            <a:off x="4938365" y="1919477"/>
            <a:ext cx="3560316" cy="2656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5715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5"/>
              <a:buChar char="●"/>
            </a:pPr>
            <a:r>
              <a:rPr lang="en-US" sz="1300"/>
              <a:t>QQ plot used to check whether reaction times were approximately normal</a:t>
            </a:r>
            <a:endParaRPr/>
          </a:p>
          <a:p>
            <a:pPr indent="-285750" lvl="0" marL="5715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5"/>
              <a:buChar char="●"/>
            </a:pPr>
            <a:r>
              <a:rPr lang="en-US" sz="1300"/>
              <a:t>Time series plot used to check:</a:t>
            </a:r>
            <a:endParaRPr/>
          </a:p>
          <a:p>
            <a:pPr indent="-285750" lvl="1" marL="1028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5"/>
              <a:buChar char="○"/>
            </a:pPr>
            <a:r>
              <a:rPr lang="en-US" sz="1300"/>
              <a:t>Drift over time</a:t>
            </a:r>
            <a:endParaRPr/>
          </a:p>
          <a:p>
            <a:pPr indent="-285750" lvl="1" marL="1028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5"/>
              <a:buChar char="○"/>
            </a:pPr>
            <a:r>
              <a:rPr lang="en-US" sz="1300"/>
              <a:t>Learning effects</a:t>
            </a:r>
            <a:endParaRPr/>
          </a:p>
          <a:p>
            <a:pPr indent="-285750" lvl="1" marL="1028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5"/>
              <a:buChar char="○"/>
            </a:pPr>
            <a:r>
              <a:rPr lang="en-US" sz="1300"/>
              <a:t>Unusual outliers</a:t>
            </a:r>
            <a:endParaRPr/>
          </a:p>
          <a:p>
            <a:pPr indent="-285750" lvl="0" marL="6286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5"/>
              <a:buChar char="●"/>
            </a:pPr>
            <a:r>
              <a:rPr lang="en-US" sz="1300"/>
              <a:t>Data followed normality reasonably well, with some tail deviations</a:t>
            </a:r>
            <a:endParaRPr/>
          </a:p>
          <a:p>
            <a:pPr indent="-285750" lvl="0" marL="6286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5"/>
              <a:buChar char="●"/>
            </a:pPr>
            <a:r>
              <a:rPr lang="en-US" sz="1300"/>
              <a:t>Reaction times showed natural variation across measurement order</a:t>
            </a:r>
            <a:endParaRPr/>
          </a:p>
          <a:p>
            <a:pPr indent="-285750" lvl="0" marL="62865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625"/>
              <a:buChar char="●"/>
            </a:pPr>
            <a:r>
              <a:rPr lang="en-US" sz="1300"/>
              <a:t>No strong drift trend was observed over time</a:t>
            </a:r>
            <a:endParaRPr/>
          </a:p>
        </p:txBody>
      </p:sp>
      <p:sp>
        <p:nvSpPr>
          <p:cNvPr id="560" name="Google Shape;560;p24"/>
          <p:cNvSpPr txBox="1"/>
          <p:nvPr>
            <p:ph idx="12" type="sldNum"/>
          </p:nvPr>
        </p:nvSpPr>
        <p:spPr>
          <a:xfrm>
            <a:off x="7707240" y="4732020"/>
            <a:ext cx="578317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25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6" name="Google Shape;566;p25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567" name="Google Shape;567;p25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568" name="Google Shape;568;p25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69" name="Google Shape;569;p25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0" name="Google Shape;570;p25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1" name="Google Shape;571;p25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2" name="Google Shape;572;p25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3" name="Google Shape;573;p25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4" name="Google Shape;574;p25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5" name="Google Shape;575;p25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6" name="Google Shape;576;p25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7" name="Google Shape;577;p25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8" name="Google Shape;578;p25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579" name="Google Shape;579;p25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580" name="Google Shape;580;p25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81" name="Google Shape;581;p25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83" name="Google Shape;583;p25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84" name="Google Shape;584;p25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85" name="Google Shape;585;p25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86" name="Google Shape;586;p25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87" name="Google Shape;587;p25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88" name="Google Shape;588;p25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89" name="Google Shape;589;p25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90" name="Google Shape;590;p25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91" name="Google Shape;591;p25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92" name="Google Shape;592;p25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93" name="Google Shape;593;p25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94" name="Google Shape;594;p25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595" name="Google Shape;595;p25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596" name="Google Shape;596;p25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97" name="Google Shape;597;p25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98" name="Google Shape;598;p25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99" name="Google Shape;599;p25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00" name="Google Shape;600;p25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01" name="Google Shape;601;p25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02" name="Google Shape;602;p25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03" name="Google Shape;603;p25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04" name="Google Shape;604;p25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05" name="Google Shape;605;p25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606" name="Google Shape;606;p25"/>
          <p:cNvSpPr txBox="1"/>
          <p:nvPr>
            <p:ph type="title"/>
          </p:nvPr>
        </p:nvSpPr>
        <p:spPr>
          <a:xfrm>
            <a:off x="856059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3600"/>
              <a:t>LOGNORMAL DISTRIBUTION FITTING</a:t>
            </a:r>
            <a:endParaRPr/>
          </a:p>
        </p:txBody>
      </p:sp>
      <p:pic>
        <p:nvPicPr>
          <p:cNvPr id="607" name="Google Shape;60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26" y="1991965"/>
            <a:ext cx="4317924" cy="1665157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sp>
        <p:nvSpPr>
          <p:cNvPr id="608" name="Google Shape;608;p25"/>
          <p:cNvSpPr txBox="1"/>
          <p:nvPr>
            <p:ph idx="2" type="body"/>
          </p:nvPr>
        </p:nvSpPr>
        <p:spPr>
          <a:xfrm>
            <a:off x="4455790" y="1687115"/>
            <a:ext cx="4064320" cy="2656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6286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Char char="●"/>
            </a:pPr>
            <a:r>
              <a:rPr lang="en-US" sz="1500"/>
              <a:t>Reaction time data was:</a:t>
            </a:r>
            <a:endParaRPr/>
          </a:p>
          <a:p>
            <a:pPr indent="-285750" lvl="1" marL="10858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Char char="○"/>
            </a:pPr>
            <a:r>
              <a:rPr lang="en-US"/>
              <a:t>Continuous</a:t>
            </a:r>
            <a:endParaRPr/>
          </a:p>
          <a:p>
            <a:pPr indent="-285750" lvl="1" marL="10858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Char char="○"/>
            </a:pPr>
            <a:r>
              <a:rPr lang="en-US"/>
              <a:t>Positive</a:t>
            </a:r>
            <a:endParaRPr/>
          </a:p>
          <a:p>
            <a:pPr indent="-285750" lvl="1" marL="10858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Char char="○"/>
            </a:pPr>
            <a:r>
              <a:rPr lang="en-US"/>
              <a:t>Slightly right-skewed</a:t>
            </a:r>
            <a:endParaRPr/>
          </a:p>
          <a:p>
            <a:pPr indent="-285750" lvl="0" marL="685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Char char="●"/>
            </a:pPr>
            <a:r>
              <a:rPr lang="en-US" sz="1500"/>
              <a:t>A lognormal distribution was selected as the best-fit model</a:t>
            </a:r>
            <a:endParaRPr/>
          </a:p>
          <a:p>
            <a:pPr indent="-285750" lvl="0" marL="6858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75"/>
              <a:buChar char="●"/>
            </a:pPr>
            <a:r>
              <a:rPr lang="en-US" sz="1500"/>
              <a:t>Maximum likelihood estimation (MLE) was used to estimate distribution parameters</a:t>
            </a:r>
            <a:endParaRPr/>
          </a:p>
          <a:p>
            <a:pPr indent="-285750" lvl="0" marL="68580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875"/>
              <a:buChar char="●"/>
            </a:pPr>
            <a:r>
              <a:rPr lang="en-US" sz="1500"/>
              <a:t>The lognormal distribution reasonably matched the observed reaction time data</a:t>
            </a:r>
            <a:endParaRPr/>
          </a:p>
        </p:txBody>
      </p:sp>
      <p:sp>
        <p:nvSpPr>
          <p:cNvPr id="609" name="Google Shape;609;p25"/>
          <p:cNvSpPr txBox="1"/>
          <p:nvPr>
            <p:ph idx="12" type="sldNum"/>
          </p:nvPr>
        </p:nvSpPr>
        <p:spPr>
          <a:xfrm>
            <a:off x="7707240" y="4732020"/>
            <a:ext cx="578317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26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5" name="Google Shape;615;p26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616" name="Google Shape;616;p26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617" name="Google Shape;617;p26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18" name="Google Shape;618;p26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19" name="Google Shape;619;p26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20" name="Google Shape;620;p26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21" name="Google Shape;621;p26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22" name="Google Shape;622;p26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23" name="Google Shape;623;p26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24" name="Google Shape;624;p26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25" name="Google Shape;625;p26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26" name="Google Shape;626;p26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27" name="Google Shape;627;p26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628" name="Google Shape;628;p26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629" name="Google Shape;629;p26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0" name="Google Shape;630;p26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1" name="Google Shape;631;p26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2" name="Google Shape;632;p26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3" name="Google Shape;633;p26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4" name="Google Shape;634;p26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5" name="Google Shape;635;p26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6" name="Google Shape;636;p26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7" name="Google Shape;637;p26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8" name="Google Shape;638;p26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39" name="Google Shape;639;p26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40" name="Google Shape;640;p26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41" name="Google Shape;641;p26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42" name="Google Shape;642;p26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43" name="Google Shape;643;p26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644" name="Google Shape;644;p26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645" name="Google Shape;645;p26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46" name="Google Shape;646;p26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47" name="Google Shape;647;p26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48" name="Google Shape;648;p26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49" name="Google Shape;649;p26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50" name="Google Shape;650;p26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51" name="Google Shape;651;p26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52" name="Google Shape;652;p26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53" name="Google Shape;653;p26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54" name="Google Shape;654;p26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655" name="Google Shape;655;p26"/>
          <p:cNvSpPr txBox="1"/>
          <p:nvPr>
            <p:ph type="title"/>
          </p:nvPr>
        </p:nvSpPr>
        <p:spPr>
          <a:xfrm>
            <a:off x="856059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3600"/>
              <a:t>CONFIDENCE INTERVAL AND ONE-SAMPLE T-TEST</a:t>
            </a:r>
            <a:endParaRPr/>
          </a:p>
        </p:txBody>
      </p:sp>
      <p:pic>
        <p:nvPicPr>
          <p:cNvPr id="656" name="Google Shape;65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2605" y="1912024"/>
            <a:ext cx="2620948" cy="1191340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pic>
        <p:nvPicPr>
          <p:cNvPr id="657" name="Google Shape;65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944" y="3323090"/>
            <a:ext cx="4968270" cy="127932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sp>
        <p:nvSpPr>
          <p:cNvPr id="658" name="Google Shape;658;p26"/>
          <p:cNvSpPr txBox="1"/>
          <p:nvPr>
            <p:ph idx="2" type="body"/>
          </p:nvPr>
        </p:nvSpPr>
        <p:spPr>
          <a:xfrm>
            <a:off x="4856560" y="1394223"/>
            <a:ext cx="3428998" cy="3418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10000"/>
          </a:bodyPr>
          <a:lstStyle/>
          <a:p>
            <a:pPr indent="-219075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600"/>
              <a:t>A 95% confidence interval for the mean reaction time was calculated using the t-distribution</a:t>
            </a:r>
            <a:endParaRPr/>
          </a:p>
          <a:p>
            <a:pPr indent="-219075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600"/>
              <a:t>One-sample hypothesis test performed:</a:t>
            </a:r>
            <a:endParaRPr/>
          </a:p>
          <a:p>
            <a:pPr indent="-219075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600"/>
              <a:t>H₀ : μ = 250 ms</a:t>
            </a:r>
            <a:endParaRPr sz="1600"/>
          </a:p>
          <a:p>
            <a:pPr indent="-219075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600"/>
              <a:t>H₁ : μ ≠ 250 ms</a:t>
            </a:r>
            <a:endParaRPr sz="1600"/>
          </a:p>
          <a:p>
            <a:pPr indent="-219075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600"/>
              <a:t>The confidence interval contained 250 ms</a:t>
            </a:r>
            <a:endParaRPr sz="1600"/>
          </a:p>
          <a:p>
            <a:pPr indent="-219075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600"/>
              <a:t>The null hypothesis failed to be rejected</a:t>
            </a:r>
            <a:endParaRPr/>
          </a:p>
          <a:p>
            <a:pPr indent="-219075" lvl="0" marL="45720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600"/>
              <a:t>Mean reaction time was not significantly different from 250 ms</a:t>
            </a:r>
            <a:endParaRPr sz="1600"/>
          </a:p>
        </p:txBody>
      </p:sp>
      <p:sp>
        <p:nvSpPr>
          <p:cNvPr id="659" name="Google Shape;659;p26"/>
          <p:cNvSpPr txBox="1"/>
          <p:nvPr>
            <p:ph idx="12" type="sldNum"/>
          </p:nvPr>
        </p:nvSpPr>
        <p:spPr>
          <a:xfrm>
            <a:off x="7707240" y="4732020"/>
            <a:ext cx="578317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27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5" name="Google Shape;665;p27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666" name="Google Shape;666;p27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667" name="Google Shape;667;p27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68" name="Google Shape;668;p27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69" name="Google Shape;669;p27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70" name="Google Shape;670;p27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71" name="Google Shape;671;p27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72" name="Google Shape;672;p27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678" name="Google Shape;678;p27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679" name="Google Shape;679;p27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3" name="Google Shape;683;p27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4" name="Google Shape;684;p27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694" name="Google Shape;694;p27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695" name="Google Shape;695;p27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96" name="Google Shape;696;p27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97" name="Google Shape;697;p27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705" name="Google Shape;705;p27"/>
          <p:cNvSpPr txBox="1"/>
          <p:nvPr>
            <p:ph type="title"/>
          </p:nvPr>
        </p:nvSpPr>
        <p:spPr>
          <a:xfrm>
            <a:off x="856059" y="463888"/>
            <a:ext cx="4573350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Twentieth Century"/>
              <a:buNone/>
            </a:pPr>
            <a:r>
              <a:rPr lang="en-US"/>
              <a:t>TWO-SAMPLE COMPARISON</a:t>
            </a:r>
            <a:endParaRPr/>
          </a:p>
        </p:txBody>
      </p:sp>
      <p:sp>
        <p:nvSpPr>
          <p:cNvPr id="706" name="Google Shape;706;p27"/>
          <p:cNvSpPr txBox="1"/>
          <p:nvPr>
            <p:ph idx="2" type="body"/>
          </p:nvPr>
        </p:nvSpPr>
        <p:spPr>
          <a:xfrm>
            <a:off x="856059" y="1687115"/>
            <a:ext cx="4496991" cy="286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Two-sample t-test compared baseline and caffeine reaction times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F-test was used to compare variances between baseline and caffeine conditions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Paired t-test compared matched participant trials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Caffeine showed improvement for some participants, but the overall group effect was not statistically significant.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All test p-values were greater than 0.05</a:t>
            </a:r>
            <a:endParaRPr sz="1400"/>
          </a:p>
        </p:txBody>
      </p:sp>
      <p:sp>
        <p:nvSpPr>
          <p:cNvPr id="707" name="Google Shape;707;p27"/>
          <p:cNvSpPr txBox="1"/>
          <p:nvPr>
            <p:ph idx="12" type="sldNum"/>
          </p:nvPr>
        </p:nvSpPr>
        <p:spPr>
          <a:xfrm>
            <a:off x="4851093" y="4412456"/>
            <a:ext cx="5019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  <p:sp>
        <p:nvSpPr>
          <p:cNvPr id="708" name="Google Shape;708;p27"/>
          <p:cNvSpPr/>
          <p:nvPr/>
        </p:nvSpPr>
        <p:spPr>
          <a:xfrm>
            <a:off x="5670708" y="0"/>
            <a:ext cx="3473292" cy="5143500"/>
          </a:xfrm>
          <a:prstGeom prst="round2DiagRect">
            <a:avLst>
              <a:gd fmla="val 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709" name="Google Shape;70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7474" y="1984600"/>
            <a:ext cx="3129350" cy="117429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7"/>
          <p:cNvSpPr/>
          <p:nvPr/>
        </p:nvSpPr>
        <p:spPr>
          <a:xfrm>
            <a:off x="5670708" y="1714500"/>
            <a:ext cx="3477006" cy="685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711" name="Google Shape;71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7067" y="595979"/>
            <a:ext cx="3248025" cy="682085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27"/>
          <p:cNvSpPr/>
          <p:nvPr/>
        </p:nvSpPr>
        <p:spPr>
          <a:xfrm>
            <a:off x="5670708" y="3429000"/>
            <a:ext cx="3477006" cy="685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713" name="Google Shape;71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70700" y="4017711"/>
            <a:ext cx="3473301" cy="668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8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9" name="Google Shape;719;p28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720" name="Google Shape;720;p2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721" name="Google Shape;721;p28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22" name="Google Shape;722;p28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23" name="Google Shape;723;p28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24" name="Google Shape;724;p28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25" name="Google Shape;725;p28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26" name="Google Shape;726;p28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27" name="Google Shape;727;p28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28" name="Google Shape;728;p28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29" name="Google Shape;729;p28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30" name="Google Shape;730;p28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31" name="Google Shape;731;p28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732" name="Google Shape;732;p28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733" name="Google Shape;733;p28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34" name="Google Shape;734;p28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35" name="Google Shape;735;p28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36" name="Google Shape;736;p28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37" name="Google Shape;737;p28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38" name="Google Shape;738;p28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39" name="Google Shape;739;p28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40" name="Google Shape;740;p28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41" name="Google Shape;741;p28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42" name="Google Shape;742;p28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43" name="Google Shape;743;p28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44" name="Google Shape;744;p28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45" name="Google Shape;745;p28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46" name="Google Shape;746;p28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47" name="Google Shape;747;p28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748" name="Google Shape;748;p28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749" name="Google Shape;749;p28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50" name="Google Shape;750;p28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51" name="Google Shape;751;p28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52" name="Google Shape;752;p28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53" name="Google Shape;753;p28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54" name="Google Shape;754;p28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55" name="Google Shape;755;p28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56" name="Google Shape;756;p28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57" name="Google Shape;757;p28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58" name="Google Shape;758;p28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759" name="Google Shape;759;p28"/>
          <p:cNvSpPr txBox="1"/>
          <p:nvPr>
            <p:ph type="title"/>
          </p:nvPr>
        </p:nvSpPr>
        <p:spPr>
          <a:xfrm>
            <a:off x="4927467" y="463888"/>
            <a:ext cx="3560316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3600"/>
              <a:t>PARTICIPANT-LEVEL RESULTS</a:t>
            </a:r>
            <a:endParaRPr/>
          </a:p>
        </p:txBody>
      </p:sp>
      <p:sp>
        <p:nvSpPr>
          <p:cNvPr id="760" name="Google Shape;760;p28"/>
          <p:cNvSpPr/>
          <p:nvPr/>
        </p:nvSpPr>
        <p:spPr>
          <a:xfrm>
            <a:off x="599212" y="606042"/>
            <a:ext cx="3964782" cy="3925796"/>
          </a:xfrm>
          <a:prstGeom prst="round2DiagRect">
            <a:avLst>
              <a:gd fmla="val 7418" name="adj1"/>
              <a:gd fmla="val 0" name="adj2"/>
            </a:avLst>
          </a:prstGeom>
          <a:solidFill>
            <a:srgbClr val="FFFFFF"/>
          </a:solidFill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761" name="Google Shape;761;p28"/>
          <p:cNvPicPr preferRelativeResize="0"/>
          <p:nvPr/>
        </p:nvPicPr>
        <p:blipFill rotWithShape="1">
          <a:blip r:embed="rId5">
            <a:alphaModFix/>
          </a:blip>
          <a:srcRect b="499" l="-1" r="45981" t="231"/>
          <a:stretch/>
        </p:blipFill>
        <p:spPr>
          <a:xfrm>
            <a:off x="639367" y="1703693"/>
            <a:ext cx="3863275" cy="922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28"/>
          <p:cNvPicPr preferRelativeResize="0"/>
          <p:nvPr/>
        </p:nvPicPr>
        <p:blipFill rotWithShape="1">
          <a:blip r:embed="rId5">
            <a:alphaModFix/>
          </a:blip>
          <a:srcRect b="0" l="54019" r="0" t="0"/>
          <a:stretch/>
        </p:blipFill>
        <p:spPr>
          <a:xfrm>
            <a:off x="624215" y="2807484"/>
            <a:ext cx="3916526" cy="11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28"/>
          <p:cNvSpPr txBox="1"/>
          <p:nvPr>
            <p:ph idx="2" type="body"/>
          </p:nvPr>
        </p:nvSpPr>
        <p:spPr>
          <a:xfrm>
            <a:off x="4927467" y="1687115"/>
            <a:ext cx="3560316" cy="2978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-237569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 sz="1500"/>
              <a:t>Amna and Matt showed improved reaction times under caffeine</a:t>
            </a:r>
            <a:endParaRPr/>
          </a:p>
          <a:p>
            <a:pPr indent="-237569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 sz="1500"/>
              <a:t>Ben showed slower reaction times under caffeine</a:t>
            </a:r>
            <a:endParaRPr/>
          </a:p>
          <a:p>
            <a:pPr indent="-237569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 sz="1500"/>
              <a:t>Practice produced more consistent overall improvement across participants</a:t>
            </a:r>
            <a:endParaRPr/>
          </a:p>
          <a:p>
            <a:pPr indent="-237569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 sz="1500"/>
              <a:t>Individual participant variability affected the overall caffeine results </a:t>
            </a:r>
            <a:endParaRPr/>
          </a:p>
          <a:p>
            <a:pPr indent="-237569" lvl="0" marL="45720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 sz="1500"/>
              <a:t>Negative values indicate faster reaction times</a:t>
            </a:r>
            <a:endParaRPr sz="1500"/>
          </a:p>
        </p:txBody>
      </p:sp>
      <p:sp>
        <p:nvSpPr>
          <p:cNvPr id="764" name="Google Shape;764;p28"/>
          <p:cNvSpPr txBox="1"/>
          <p:nvPr>
            <p:ph idx="12" type="sldNum"/>
          </p:nvPr>
        </p:nvSpPr>
        <p:spPr>
          <a:xfrm>
            <a:off x="7707240" y="4732020"/>
            <a:ext cx="578317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  <p:sp>
        <p:nvSpPr>
          <p:cNvPr id="765" name="Google Shape;765;p28"/>
          <p:cNvSpPr txBox="1"/>
          <p:nvPr/>
        </p:nvSpPr>
        <p:spPr>
          <a:xfrm>
            <a:off x="1997788" y="3914775"/>
            <a:ext cx="11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>
                <a:solidFill>
                  <a:srgbClr val="6666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All times are in (ms)</a:t>
            </a:r>
            <a:endParaRPr sz="1000">
              <a:solidFill>
                <a:srgbClr val="66666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29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1" name="Google Shape;771;p29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772" name="Google Shape;772;p29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773" name="Google Shape;773;p29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74" name="Google Shape;774;p29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75" name="Google Shape;775;p29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76" name="Google Shape;776;p29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77" name="Google Shape;777;p29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78" name="Google Shape;778;p29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79" name="Google Shape;779;p29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80" name="Google Shape;780;p29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81" name="Google Shape;781;p29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82" name="Google Shape;782;p29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83" name="Google Shape;783;p29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784" name="Google Shape;784;p29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785" name="Google Shape;785;p29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86" name="Google Shape;786;p29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87" name="Google Shape;787;p29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88" name="Google Shape;788;p29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89" name="Google Shape;789;p29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0" name="Google Shape;790;p29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1" name="Google Shape;791;p29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2" name="Google Shape;792;p29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3" name="Google Shape;793;p29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4" name="Google Shape;794;p29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5" name="Google Shape;795;p29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6" name="Google Shape;796;p29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7" name="Google Shape;797;p29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8" name="Google Shape;798;p29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799" name="Google Shape;799;p29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800" name="Google Shape;800;p2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801" name="Google Shape;801;p29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02" name="Google Shape;802;p29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03" name="Google Shape;803;p29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04" name="Google Shape;804;p29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05" name="Google Shape;805;p29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06" name="Google Shape;806;p29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07" name="Google Shape;807;p29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08" name="Google Shape;808;p29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09" name="Google Shape;809;p29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10" name="Google Shape;810;p29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811" name="Google Shape;811;p29"/>
          <p:cNvSpPr txBox="1"/>
          <p:nvPr>
            <p:ph type="title"/>
          </p:nvPr>
        </p:nvSpPr>
        <p:spPr>
          <a:xfrm>
            <a:off x="856059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3600"/>
              <a:t>REGRESSION RESULTS</a:t>
            </a:r>
            <a:endParaRPr/>
          </a:p>
        </p:txBody>
      </p:sp>
      <p:pic>
        <p:nvPicPr>
          <p:cNvPr id="812" name="Google Shape;81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058" y="2133706"/>
            <a:ext cx="3516925" cy="1769055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sp>
        <p:nvSpPr>
          <p:cNvPr id="813" name="Google Shape;813;p29"/>
          <p:cNvSpPr txBox="1"/>
          <p:nvPr>
            <p:ph idx="2" type="body"/>
          </p:nvPr>
        </p:nvSpPr>
        <p:spPr>
          <a:xfrm>
            <a:off x="4752545" y="1687115"/>
            <a:ext cx="3533012" cy="2656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</a:pPr>
            <a:r>
              <a:rPr lang="en-US"/>
              <a:t>Linear regression was performed using trial number as the predictor variable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</a:pPr>
            <a:r>
              <a:rPr lang="en-US"/>
              <a:t>Regression results showed a very small R² value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2250"/>
              <a:buFont typeface="Arial"/>
              <a:buChar char="•"/>
            </a:pPr>
            <a:r>
              <a:rPr lang="en-US"/>
              <a:t>Trial number did not strongly predict reaction time</a:t>
            </a:r>
            <a:endParaRPr/>
          </a:p>
        </p:txBody>
      </p:sp>
      <p:sp>
        <p:nvSpPr>
          <p:cNvPr id="814" name="Google Shape;814;p29"/>
          <p:cNvSpPr txBox="1"/>
          <p:nvPr>
            <p:ph idx="12" type="sldNum"/>
          </p:nvPr>
        </p:nvSpPr>
        <p:spPr>
          <a:xfrm>
            <a:off x="7707240" y="4732020"/>
            <a:ext cx="578317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30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0" name="Google Shape;820;p30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821" name="Google Shape;821;p30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822" name="Google Shape;822;p30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23" name="Google Shape;823;p30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24" name="Google Shape;824;p30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25" name="Google Shape;825;p30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26" name="Google Shape;826;p30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27" name="Google Shape;827;p30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28" name="Google Shape;828;p30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29" name="Google Shape;829;p30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30" name="Google Shape;830;p30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31" name="Google Shape;831;p30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32" name="Google Shape;832;p30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833" name="Google Shape;833;p30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834" name="Google Shape;834;p30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35" name="Google Shape;835;p30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36" name="Google Shape;836;p30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37" name="Google Shape;837;p30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38" name="Google Shape;838;p30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39" name="Google Shape;839;p30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40" name="Google Shape;840;p30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41" name="Google Shape;841;p30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42" name="Google Shape;842;p30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43" name="Google Shape;843;p30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44" name="Google Shape;844;p30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45" name="Google Shape;845;p30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46" name="Google Shape;846;p30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47" name="Google Shape;847;p30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48" name="Google Shape;848;p30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849" name="Google Shape;849;p30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850" name="Google Shape;850;p30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51" name="Google Shape;851;p30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52" name="Google Shape;852;p30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53" name="Google Shape;853;p30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54" name="Google Shape;854;p30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55" name="Google Shape;855;p30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56" name="Google Shape;856;p30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57" name="Google Shape;857;p30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58" name="Google Shape;858;p30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59" name="Google Shape;859;p30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860" name="Google Shape;860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861" name="Google Shape;861;p30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30"/>
          <p:cNvSpPr txBox="1"/>
          <p:nvPr>
            <p:ph type="title"/>
          </p:nvPr>
        </p:nvSpPr>
        <p:spPr>
          <a:xfrm>
            <a:off x="856059" y="463888"/>
            <a:ext cx="3344465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2400"/>
              <a:t>ONE-WAY ANOVA RESULTS</a:t>
            </a:r>
            <a:endParaRPr/>
          </a:p>
        </p:txBody>
      </p:sp>
      <p:sp>
        <p:nvSpPr>
          <p:cNvPr id="863" name="Google Shape;863;p30"/>
          <p:cNvSpPr txBox="1"/>
          <p:nvPr>
            <p:ph idx="2" type="body"/>
          </p:nvPr>
        </p:nvSpPr>
        <p:spPr>
          <a:xfrm>
            <a:off x="856059" y="1687115"/>
            <a:ext cx="3344465" cy="297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 sz="1500"/>
              <a:t>One-way ANOVA compared:</a:t>
            </a:r>
            <a:endParaRPr/>
          </a:p>
          <a:p>
            <a:pPr indent="-2286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/>
              <a:t>Baseline</a:t>
            </a:r>
            <a:endParaRPr/>
          </a:p>
          <a:p>
            <a:pPr indent="-2286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/>
              <a:t>Caffeine</a:t>
            </a:r>
            <a:endParaRPr/>
          </a:p>
          <a:p>
            <a:pPr indent="-2286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/>
              <a:t>Practice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 sz="1500"/>
              <a:t>ANOVA results showed at least one condition mean was significantly different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875"/>
              <a:buFont typeface="Arial"/>
              <a:buChar char="•"/>
            </a:pPr>
            <a:r>
              <a:rPr lang="en-US" sz="1500"/>
              <a:t>Practice likely contributed most to the significant ANOVA result</a:t>
            </a:r>
            <a:endParaRPr/>
          </a:p>
        </p:txBody>
      </p:sp>
      <p:pic>
        <p:nvPicPr>
          <p:cNvPr id="864" name="Google Shape;86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888633"/>
            <a:ext cx="4092209" cy="1347521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grpSp>
        <p:nvGrpSpPr>
          <p:cNvPr id="865" name="Google Shape;865;p30"/>
          <p:cNvGrpSpPr/>
          <p:nvPr/>
        </p:nvGrpSpPr>
        <p:grpSpPr>
          <a:xfrm>
            <a:off x="0" y="0"/>
            <a:ext cx="915604" cy="5143499"/>
            <a:chOff x="-14288" y="0"/>
            <a:chExt cx="1220788" cy="6858001"/>
          </a:xfrm>
        </p:grpSpPr>
        <p:sp>
          <p:nvSpPr>
            <p:cNvPr id="866" name="Google Shape;866;p30"/>
            <p:cNvSpPr/>
            <p:nvPr/>
          </p:nvSpPr>
          <p:spPr>
            <a:xfrm>
              <a:off x="114300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cxnSp>
          <p:nvCxnSpPr>
            <p:cNvPr id="877" name="Google Shape;877;p30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878" name="Google Shape;878;p30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133350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6" name="Google Shape;886;p30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7" name="Google Shape;887;p30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8" name="Google Shape;888;p30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91" name="Google Shape;891;p30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893" name="Google Shape;893;p30"/>
          <p:cNvSpPr txBox="1"/>
          <p:nvPr>
            <p:ph idx="12" type="sldNum"/>
          </p:nvPr>
        </p:nvSpPr>
        <p:spPr>
          <a:xfrm>
            <a:off x="7707240" y="4755354"/>
            <a:ext cx="578317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997C9"/>
            </a:gs>
            <a:gs pos="100000">
              <a:srgbClr val="002355"/>
            </a:gs>
          </a:gsLst>
          <a:lin ang="5040000" scaled="0"/>
        </a:gra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p31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9" name="Google Shape;899;p31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900" name="Google Shape;900;p3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01" name="Google Shape;901;p3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02" name="Google Shape;902;p3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03" name="Google Shape;903;p3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04" name="Google Shape;904;p3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05" name="Google Shape;905;p3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06" name="Google Shape;906;p3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07" name="Google Shape;907;p3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08" name="Google Shape;908;p3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09" name="Google Shape;909;p3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10" name="Google Shape;910;p3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11" name="Google Shape;911;p3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912" name="Google Shape;912;p3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913" name="Google Shape;913;p3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14" name="Google Shape;914;p3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15" name="Google Shape;915;p3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16" name="Google Shape;916;p3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17" name="Google Shape;917;p3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18" name="Google Shape;918;p3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19" name="Google Shape;919;p3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20" name="Google Shape;920;p3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21" name="Google Shape;921;p3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928" name="Google Shape;928;p3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929" name="Google Shape;929;p3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939" name="Google Shape;939;p31"/>
          <p:cNvSpPr/>
          <p:nvPr/>
        </p:nvSpPr>
        <p:spPr>
          <a:xfrm>
            <a:off x="19050" y="-10715"/>
            <a:ext cx="9144000" cy="5143499"/>
          </a:xfrm>
          <a:prstGeom prst="rect">
            <a:avLst/>
          </a:prstGeom>
          <a:gradFill>
            <a:gsLst>
              <a:gs pos="0">
                <a:srgbClr val="2997C9"/>
              </a:gs>
              <a:gs pos="100000">
                <a:srgbClr val="002355"/>
              </a:gs>
            </a:gsLst>
            <a:lin ang="504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940" name="Google Shape;940;p31"/>
          <p:cNvGrpSpPr/>
          <p:nvPr/>
        </p:nvGrpSpPr>
        <p:grpSpPr>
          <a:xfrm>
            <a:off x="-10716" y="0"/>
            <a:ext cx="915604" cy="5143499"/>
            <a:chOff x="-14288" y="0"/>
            <a:chExt cx="1220788" cy="6858001"/>
          </a:xfrm>
        </p:grpSpPr>
        <p:sp>
          <p:nvSpPr>
            <p:cNvPr id="941" name="Google Shape;941;p31"/>
            <p:cNvSpPr/>
            <p:nvPr/>
          </p:nvSpPr>
          <p:spPr>
            <a:xfrm>
              <a:off x="114300" y="4763"/>
              <a:ext cx="23813" cy="2181225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cxnSp>
          <p:nvCxnSpPr>
            <p:cNvPr id="952" name="Google Shape;952;p31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solidFill>
              <a:schemeClr val="lt1">
                <a:alpha val="60000"/>
              </a:schemeClr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53" name="Google Shape;953;p31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4" name="Google Shape;954;p31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5" name="Google Shape;955;p31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6" name="Google Shape;956;p31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7" name="Google Shape;957;p31"/>
            <p:cNvSpPr/>
            <p:nvPr/>
          </p:nvSpPr>
          <p:spPr>
            <a:xfrm>
              <a:off x="133350" y="4662488"/>
              <a:ext cx="23813" cy="2181225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0" name="Google Shape;960;p31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1" name="Google Shape;961;p31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2" name="Google Shape;962;p31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3" name="Google Shape;963;p31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4" name="Google Shape;964;p31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5" name="Google Shape;965;p31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6" name="Google Shape;966;p31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7" name="Google Shape;967;p31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968" name="Google Shape;968;p31"/>
          <p:cNvSpPr txBox="1"/>
          <p:nvPr>
            <p:ph type="title"/>
          </p:nvPr>
        </p:nvSpPr>
        <p:spPr>
          <a:xfrm>
            <a:off x="856059" y="812004"/>
            <a:ext cx="2152062" cy="3531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2300"/>
              <a:t>CONCLUSIONS</a:t>
            </a:r>
            <a:endParaRPr/>
          </a:p>
        </p:txBody>
      </p:sp>
      <p:cxnSp>
        <p:nvCxnSpPr>
          <p:cNvPr id="969" name="Google Shape;969;p31"/>
          <p:cNvCxnSpPr/>
          <p:nvPr/>
        </p:nvCxnSpPr>
        <p:spPr>
          <a:xfrm>
            <a:off x="3490722" y="1091013"/>
            <a:ext cx="0" cy="2736846"/>
          </a:xfrm>
          <a:prstGeom prst="straightConnector1">
            <a:avLst/>
          </a:prstGeom>
          <a:noFill/>
          <a:ln cap="flat" cmpd="sng" w="25400">
            <a:solidFill>
              <a:schemeClr val="lt1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0" name="Google Shape;970;p31"/>
          <p:cNvSpPr txBox="1"/>
          <p:nvPr>
            <p:ph idx="2" type="body"/>
          </p:nvPr>
        </p:nvSpPr>
        <p:spPr>
          <a:xfrm>
            <a:off x="3973322" y="812004"/>
            <a:ext cx="4313428" cy="3531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Practice produced the greatest improvement in reaction time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Caffeine effects varied between participants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Reaction time data appeared approximately normally distributed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Practice produced the greatest statistically significant improvement in reaction time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750"/>
              <a:buFont typeface="Arial"/>
              <a:buChar char="•"/>
            </a:pPr>
            <a:r>
              <a:rPr lang="en-US" sz="1400"/>
              <a:t>ANOVA results showed statistically significant differences between conditions</a:t>
            </a:r>
            <a:endParaRPr/>
          </a:p>
        </p:txBody>
      </p:sp>
      <p:sp>
        <p:nvSpPr>
          <p:cNvPr id="971" name="Google Shape;971;p31"/>
          <p:cNvSpPr txBox="1"/>
          <p:nvPr>
            <p:ph idx="12" type="sldNum"/>
          </p:nvPr>
        </p:nvSpPr>
        <p:spPr>
          <a:xfrm>
            <a:off x="7707240" y="4412455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‹#›</a:t>
            </a:fld>
            <a:endParaRPr sz="7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972" name="Google Shape;972;p31"/>
          <p:cNvGrpSpPr/>
          <p:nvPr/>
        </p:nvGrpSpPr>
        <p:grpSpPr>
          <a:xfrm>
            <a:off x="8523684" y="0"/>
            <a:ext cx="506016" cy="5136356"/>
            <a:chOff x="11364912" y="0"/>
            <a:chExt cx="674688" cy="6848476"/>
          </a:xfrm>
        </p:grpSpPr>
        <p:sp>
          <p:nvSpPr>
            <p:cNvPr id="973" name="Google Shape;973;p31"/>
            <p:cNvSpPr/>
            <p:nvPr/>
          </p:nvSpPr>
          <p:spPr>
            <a:xfrm>
              <a:off x="11483975" y="0"/>
              <a:ext cx="417513" cy="512763"/>
            </a:xfrm>
            <a:custGeom>
              <a:rect b="b" l="l" r="r" t="t"/>
              <a:pathLst>
                <a:path extrusionOk="0" h="323" w="26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4" name="Google Shape;974;p31"/>
            <p:cNvSpPr/>
            <p:nvPr/>
          </p:nvSpPr>
          <p:spPr>
            <a:xfrm>
              <a:off x="11364912" y="474663"/>
              <a:ext cx="157163" cy="152400"/>
            </a:xfrm>
            <a:custGeom>
              <a:rect b="b" l="l" r="r" t="t"/>
              <a:pathLst>
                <a:path extrusionOk="0" h="32" w="33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5" name="Google Shape;975;p31"/>
            <p:cNvSpPr/>
            <p:nvPr/>
          </p:nvSpPr>
          <p:spPr>
            <a:xfrm>
              <a:off x="11631612" y="1539875"/>
              <a:ext cx="188913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6" name="Google Shape;976;p31"/>
            <p:cNvSpPr/>
            <p:nvPr/>
          </p:nvSpPr>
          <p:spPr>
            <a:xfrm>
              <a:off x="11531600" y="5694363"/>
              <a:ext cx="298450" cy="1154113"/>
            </a:xfrm>
            <a:custGeom>
              <a:rect b="b" l="l" r="r" t="t"/>
              <a:pathLst>
                <a:path extrusionOk="0" h="727" w="188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7" name="Google Shape;977;p31"/>
            <p:cNvSpPr/>
            <p:nvPr/>
          </p:nvSpPr>
          <p:spPr>
            <a:xfrm>
              <a:off x="11772900" y="5551488"/>
              <a:ext cx="157163" cy="155575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11710987" y="4763"/>
              <a:ext cx="304800" cy="1544638"/>
            </a:xfrm>
            <a:custGeom>
              <a:rect b="b" l="l" r="r" t="t"/>
              <a:pathLst>
                <a:path extrusionOk="0" h="973" w="192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11636375" y="4867275"/>
              <a:ext cx="188913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11441112" y="5046663"/>
              <a:ext cx="307975" cy="1801813"/>
            </a:xfrm>
            <a:custGeom>
              <a:rect b="b" l="l" r="r" t="t"/>
              <a:pathLst>
                <a:path extrusionOk="0" h="1135" w="194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11849100" y="64166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2" name="Google Shape;982;p31"/>
            <p:cNvSpPr/>
            <p:nvPr/>
          </p:nvSpPr>
          <p:spPr>
            <a:xfrm>
              <a:off x="11939587" y="6596063"/>
              <a:ext cx="23813" cy="252413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32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8" name="Google Shape;988;p32"/>
          <p:cNvGrpSpPr/>
          <p:nvPr/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989" name="Google Shape;989;p32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90" name="Google Shape;990;p32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91" name="Google Shape;991;p32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92" name="Google Shape;992;p32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93" name="Google Shape;993;p32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94" name="Google Shape;994;p32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95" name="Google Shape;995;p32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96" name="Google Shape;996;p32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97" name="Google Shape;997;p32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98" name="Google Shape;998;p32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999" name="Google Shape;999;p32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00" name="Google Shape;1000;p32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1001" name="Google Shape;1001;p32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002" name="Google Shape;1002;p32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03" name="Google Shape;1003;p32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04" name="Google Shape;1004;p32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05" name="Google Shape;1005;p32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06" name="Google Shape;1006;p32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07" name="Google Shape;1007;p32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08" name="Google Shape;1008;p32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09" name="Google Shape;1009;p32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10" name="Google Shape;1010;p32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11" name="Google Shape;1011;p32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12" name="Google Shape;1012;p32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13" name="Google Shape;1013;p32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14" name="Google Shape;1014;p32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15" name="Google Shape;1015;p32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16" name="Google Shape;1016;p32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1017" name="Google Shape;1017;p32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1018" name="Google Shape;1018;p32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19" name="Google Shape;1019;p32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20" name="Google Shape;1020;p32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21" name="Google Shape;1021;p32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22" name="Google Shape;1022;p32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23" name="Google Shape;1023;p32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24" name="Google Shape;1024;p32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25" name="Google Shape;1025;p32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26" name="Google Shape;1026;p32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27" name="Google Shape;1027;p32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1028" name="Google Shape;1028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029" name="Google Shape;1029;p32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32"/>
          <p:cNvSpPr txBox="1"/>
          <p:nvPr>
            <p:ph type="title"/>
          </p:nvPr>
        </p:nvSpPr>
        <p:spPr>
          <a:xfrm>
            <a:off x="856059" y="214838"/>
            <a:ext cx="33444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wentieth Century"/>
              <a:buNone/>
            </a:pPr>
            <a:r>
              <a:rPr lang="en-US" sz="3200"/>
              <a:t>REFERENCES</a:t>
            </a:r>
            <a:endParaRPr/>
          </a:p>
        </p:txBody>
      </p:sp>
      <p:sp>
        <p:nvSpPr>
          <p:cNvPr id="1031" name="Google Shape;1031;p32"/>
          <p:cNvSpPr txBox="1"/>
          <p:nvPr>
            <p:ph idx="2" type="body"/>
          </p:nvPr>
        </p:nvSpPr>
        <p:spPr>
          <a:xfrm>
            <a:off x="416713" y="1172343"/>
            <a:ext cx="4094700" cy="39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-220266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Human Benchmark Reaction Time Test</a:t>
            </a:r>
            <a:endParaRPr/>
          </a:p>
          <a:p>
            <a:pPr indent="-220266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 u="sng">
                <a:solidFill>
                  <a:schemeClr val="hlink"/>
                </a:solidFill>
                <a:hlinkClick r:id="rId5"/>
              </a:rPr>
              <a:t>https://humanbenchmark.com/tests/reactiontime</a:t>
            </a:r>
            <a:r>
              <a:rPr lang="en-US" sz="1400"/>
              <a:t> </a:t>
            </a:r>
            <a:endParaRPr/>
          </a:p>
          <a:p>
            <a:pPr indent="-220266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Python</a:t>
            </a:r>
            <a:endParaRPr/>
          </a:p>
          <a:p>
            <a:pPr indent="-220266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Used for statistical analysis and data processing</a:t>
            </a:r>
            <a:endParaRPr/>
          </a:p>
          <a:p>
            <a:pPr indent="-220266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Pandas</a:t>
            </a:r>
            <a:endParaRPr/>
          </a:p>
          <a:p>
            <a:pPr indent="-220266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Used for data cleaning and dataset organization</a:t>
            </a:r>
            <a:endParaRPr/>
          </a:p>
          <a:p>
            <a:pPr indent="-220266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Scipy</a:t>
            </a:r>
            <a:endParaRPr sz="1400"/>
          </a:p>
          <a:p>
            <a:pPr indent="-220266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Used for hypothesis testing, confidence intervals, ANOVA, regression, and distribution fitting</a:t>
            </a:r>
            <a:endParaRPr/>
          </a:p>
          <a:p>
            <a:pPr indent="-220266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Matplotlib</a:t>
            </a:r>
            <a:endParaRPr/>
          </a:p>
          <a:p>
            <a:pPr indent="-220266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Used for graph and data visualization creation</a:t>
            </a:r>
            <a:endParaRPr/>
          </a:p>
          <a:p>
            <a:pPr indent="-220266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Seaborn</a:t>
            </a:r>
            <a:endParaRPr/>
          </a:p>
          <a:p>
            <a:pPr indent="-220266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Used for statistical plotting and box plot generation</a:t>
            </a:r>
            <a:endParaRPr/>
          </a:p>
          <a:p>
            <a:pPr indent="-220266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Jupyter Notebook</a:t>
            </a:r>
            <a:endParaRPr/>
          </a:p>
          <a:p>
            <a:pPr indent="-220266" lvl="1" marL="91440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ct val="125000"/>
              <a:buFont typeface="Arial"/>
              <a:buChar char="•"/>
            </a:pPr>
            <a:r>
              <a:rPr lang="en-US" sz="1400"/>
              <a:t>Used to develop and document the statistical analysis workflow</a:t>
            </a:r>
            <a:endParaRPr/>
          </a:p>
        </p:txBody>
      </p:sp>
      <p:pic>
        <p:nvPicPr>
          <p:cNvPr id="1032" name="Google Shape;1032;p32"/>
          <p:cNvPicPr preferRelativeResize="0"/>
          <p:nvPr/>
        </p:nvPicPr>
        <p:blipFill rotWithShape="1">
          <a:blip r:embed="rId6">
            <a:alphaModFix/>
          </a:blip>
          <a:srcRect b="16458" l="0" r="0" t="15606"/>
          <a:stretch/>
        </p:blipFill>
        <p:spPr>
          <a:xfrm>
            <a:off x="4572000" y="1172352"/>
            <a:ext cx="4092209" cy="2780083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grpSp>
        <p:nvGrpSpPr>
          <p:cNvPr id="1033" name="Google Shape;1033;p32"/>
          <p:cNvGrpSpPr/>
          <p:nvPr/>
        </p:nvGrpSpPr>
        <p:grpSpPr>
          <a:xfrm>
            <a:off x="0" y="0"/>
            <a:ext cx="915604" cy="5143499"/>
            <a:chOff x="-14288" y="0"/>
            <a:chExt cx="1220788" cy="6858001"/>
          </a:xfrm>
        </p:grpSpPr>
        <p:sp>
          <p:nvSpPr>
            <p:cNvPr id="1034" name="Google Shape;1034;p32"/>
            <p:cNvSpPr/>
            <p:nvPr/>
          </p:nvSpPr>
          <p:spPr>
            <a:xfrm>
              <a:off x="114300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5" name="Google Shape;1035;p32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6" name="Google Shape;1036;p32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7" name="Google Shape;1037;p32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8" name="Google Shape;1038;p32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9" name="Google Shape;1039;p32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0" name="Google Shape;1040;p32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1" name="Google Shape;1041;p32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2" name="Google Shape;1042;p32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3" name="Google Shape;1043;p32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4" name="Google Shape;1044;p32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cxnSp>
          <p:nvCxnSpPr>
            <p:cNvPr id="1045" name="Google Shape;1045;p32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046" name="Google Shape;1046;p32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7" name="Google Shape;1047;p32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8" name="Google Shape;1048;p32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9" name="Google Shape;1049;p32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0" name="Google Shape;1050;p32"/>
            <p:cNvSpPr/>
            <p:nvPr/>
          </p:nvSpPr>
          <p:spPr>
            <a:xfrm>
              <a:off x="133350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1" name="Google Shape;1051;p32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2" name="Google Shape;1052;p32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3" name="Google Shape;1053;p32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4" name="Google Shape;1054;p32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5" name="Google Shape;1055;p32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6" name="Google Shape;1056;p32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7" name="Google Shape;1057;p32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8" name="Google Shape;1058;p32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9" name="Google Shape;1059;p32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0" name="Google Shape;1060;p32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61" name="Google Shape;1061;p32"/>
          <p:cNvSpPr txBox="1"/>
          <p:nvPr>
            <p:ph idx="12" type="sldNum"/>
          </p:nvPr>
        </p:nvSpPr>
        <p:spPr>
          <a:xfrm>
            <a:off x="7707240" y="4755354"/>
            <a:ext cx="578317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700"/>
              <a:buFont typeface="Twentieth Century"/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